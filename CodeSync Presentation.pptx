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7"/>
  </p:notesMasterIdLst>
  <p:handoutMasterIdLst>
    <p:handoutMasterId r:id="rId18"/>
  </p:handoutMasterIdLst>
  <p:sldIdLst>
    <p:sldId id="257" r:id="rId2"/>
    <p:sldId id="276" r:id="rId3"/>
    <p:sldId id="273" r:id="rId4"/>
    <p:sldId id="258" r:id="rId5"/>
    <p:sldId id="266" r:id="rId6"/>
    <p:sldId id="267" r:id="rId7"/>
    <p:sldId id="274" r:id="rId8"/>
    <p:sldId id="268" r:id="rId9"/>
    <p:sldId id="275" r:id="rId10"/>
    <p:sldId id="270" r:id="rId11"/>
    <p:sldId id="271" r:id="rId12"/>
    <p:sldId id="260" r:id="rId13"/>
    <p:sldId id="265" r:id="rId14"/>
    <p:sldId id="277" r:id="rId15"/>
    <p:sldId id="278" r:id="rId16"/>
  </p:sldIdLst>
  <p:sldSz cx="9144000" cy="6858000" type="screen4x3"/>
  <p:notesSz cx="9309100" cy="69532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9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CF049-624E-0A41-B19F-624F29505CD1}" v="5" dt="2026-04-28T11:10:44.1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22"/>
  </p:normalViewPr>
  <p:slideViewPr>
    <p:cSldViewPr snapToGrid="0" showGuides="1">
      <p:cViewPr varScale="1">
        <p:scale>
          <a:sx n="113" d="100"/>
          <a:sy n="113" d="100"/>
        </p:scale>
        <p:origin x="1528" y="168"/>
      </p:cViewPr>
      <p:guideLst>
        <p:guide orient="horz" pos="219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 Kumar Goel" userId="48fcfba7-ecdc-4b7c-9ff7-859a9ed50eb0" providerId="ADAL" clId="{E7AFEA6D-6FEA-5D41-A20D-052D5529394B}"/>
    <pc:docChg chg="undo custSel modSld">
      <pc:chgData name="Jai Kumar Goel" userId="48fcfba7-ecdc-4b7c-9ff7-859a9ed50eb0" providerId="ADAL" clId="{E7AFEA6D-6FEA-5D41-A20D-052D5529394B}" dt="2026-04-28T11:12:37.757" v="26" actId="1076"/>
      <pc:docMkLst>
        <pc:docMk/>
      </pc:docMkLst>
      <pc:sldChg chg="addSp delSp modSp mod">
        <pc:chgData name="Jai Kumar Goel" userId="48fcfba7-ecdc-4b7c-9ff7-859a9ed50eb0" providerId="ADAL" clId="{E7AFEA6D-6FEA-5D41-A20D-052D5529394B}" dt="2026-04-28T11:12:19.124" v="25" actId="1076"/>
        <pc:sldMkLst>
          <pc:docMk/>
          <pc:sldMk cId="0" sldId="257"/>
        </pc:sldMkLst>
        <pc:spChg chg="add del mod">
          <ac:chgData name="Jai Kumar Goel" userId="48fcfba7-ecdc-4b7c-9ff7-859a9ed50eb0" providerId="ADAL" clId="{E7AFEA6D-6FEA-5D41-A20D-052D5529394B}" dt="2026-04-28T11:11:36.082" v="22"/>
          <ac:spMkLst>
            <pc:docMk/>
            <pc:sldMk cId="0" sldId="257"/>
            <ac:spMk id="4" creationId="{185A8EB3-9D3A-487A-276C-101B87255A07}"/>
          </ac:spMkLst>
        </pc:spChg>
        <pc:spChg chg="mod">
          <ac:chgData name="Jai Kumar Goel" userId="48fcfba7-ecdc-4b7c-9ff7-859a9ed50eb0" providerId="ADAL" clId="{E7AFEA6D-6FEA-5D41-A20D-052D5529394B}" dt="2026-04-28T11:11:34.424" v="20" actId="14100"/>
          <ac:spMkLst>
            <pc:docMk/>
            <pc:sldMk cId="0" sldId="257"/>
            <ac:spMk id="5" creationId="{C8B7F21E-CC76-E62E-981B-91C3728F3CAD}"/>
          </ac:spMkLst>
        </pc:spChg>
        <pc:spChg chg="mod">
          <ac:chgData name="Jai Kumar Goel" userId="48fcfba7-ecdc-4b7c-9ff7-859a9ed50eb0" providerId="ADAL" clId="{E7AFEA6D-6FEA-5D41-A20D-052D5529394B}" dt="2026-04-28T11:12:19.124" v="25" actId="1076"/>
          <ac:spMkLst>
            <pc:docMk/>
            <pc:sldMk cId="0" sldId="257"/>
            <ac:spMk id="7" creationId="{22A40F50-BC44-86CD-15B7-21CEF77B5FBF}"/>
          </ac:spMkLst>
        </pc:spChg>
        <pc:picChg chg="mod">
          <ac:chgData name="Jai Kumar Goel" userId="48fcfba7-ecdc-4b7c-9ff7-859a9ed50eb0" providerId="ADAL" clId="{E7AFEA6D-6FEA-5D41-A20D-052D5529394B}" dt="2026-04-28T11:10:51.989" v="13" actId="1076"/>
          <ac:picMkLst>
            <pc:docMk/>
            <pc:sldMk cId="0" sldId="257"/>
            <ac:picMk id="10" creationId="{C38B6CC9-DF09-4835-D566-794969D56F62}"/>
          </ac:picMkLst>
        </pc:picChg>
      </pc:sldChg>
      <pc:sldChg chg="modSp mod">
        <pc:chgData name="Jai Kumar Goel" userId="48fcfba7-ecdc-4b7c-9ff7-859a9ed50eb0" providerId="ADAL" clId="{E7AFEA6D-6FEA-5D41-A20D-052D5529394B}" dt="2026-04-28T11:12:37.757" v="26" actId="1076"/>
        <pc:sldMkLst>
          <pc:docMk/>
          <pc:sldMk cId="475470409" sldId="278"/>
        </pc:sldMkLst>
        <pc:picChg chg="mod">
          <ac:chgData name="Jai Kumar Goel" userId="48fcfba7-ecdc-4b7c-9ff7-859a9ed50eb0" providerId="ADAL" clId="{E7AFEA6D-6FEA-5D41-A20D-052D5529394B}" dt="2026-04-28T11:12:37.757" v="26" actId="1076"/>
          <ac:picMkLst>
            <pc:docMk/>
            <pc:sldMk cId="475470409" sldId="278"/>
            <ac:picMk id="6" creationId="{EB73E03F-5953-12B6-6CA4-52318240E15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475705" cy="265335"/>
          </a:xfrm>
          <a:prstGeom prst="rect">
            <a:avLst/>
          </a:prstGeom>
        </p:spPr>
        <p:txBody>
          <a:bodyPr vert="horz" lIns="91440" tIns="45720" rIns="91440" bIns="45720" rtlCol="0"/>
          <a:lstStyle>
            <a:lvl1pPr algn="l">
              <a:defRPr sz="695"/>
            </a:lvl1pPr>
          </a:lstStyle>
          <a:p>
            <a:endParaRPr lang="en-US"/>
          </a:p>
        </p:txBody>
      </p:sp>
      <p:sp>
        <p:nvSpPr>
          <p:cNvPr id="3" name="Date Placeholder 2"/>
          <p:cNvSpPr>
            <a:spLocks noGrp="1"/>
          </p:cNvSpPr>
          <p:nvPr>
            <p:ph type="dt" sz="quarter" idx="1"/>
          </p:nvPr>
        </p:nvSpPr>
        <p:spPr>
          <a:xfrm>
            <a:off x="7157613" y="0"/>
            <a:ext cx="5475705" cy="265335"/>
          </a:xfrm>
          <a:prstGeom prst="rect">
            <a:avLst/>
          </a:prstGeom>
        </p:spPr>
        <p:txBody>
          <a:bodyPr vert="horz" lIns="91440" tIns="45720" rIns="91440" bIns="45720" rtlCol="0"/>
          <a:lstStyle>
            <a:lvl1pPr algn="r">
              <a:defRPr sz="695"/>
            </a:lvl1pPr>
          </a:lstStyle>
          <a:p>
            <a:fld id="{696C064A-D61B-4B21-B757-51A9B82445B8}" type="datetimeFigureOut">
              <a:rPr lang="en-US" smtClean="0"/>
              <a:t>4/28/26</a:t>
            </a:fld>
            <a:endParaRPr lang="en-US"/>
          </a:p>
        </p:txBody>
      </p:sp>
      <p:sp>
        <p:nvSpPr>
          <p:cNvPr id="4" name="Footer Placeholder 3"/>
          <p:cNvSpPr>
            <a:spLocks noGrp="1"/>
          </p:cNvSpPr>
          <p:nvPr>
            <p:ph type="ftr" sz="quarter" idx="2"/>
          </p:nvPr>
        </p:nvSpPr>
        <p:spPr>
          <a:xfrm>
            <a:off x="0" y="5022998"/>
            <a:ext cx="5475705" cy="265334"/>
          </a:xfrm>
          <a:prstGeom prst="rect">
            <a:avLst/>
          </a:prstGeom>
        </p:spPr>
        <p:txBody>
          <a:bodyPr vert="horz" lIns="91440" tIns="45720" rIns="91440" bIns="45720" rtlCol="0" anchor="b"/>
          <a:lstStyle>
            <a:lvl1pPr algn="l">
              <a:defRPr sz="695"/>
            </a:lvl1pPr>
          </a:lstStyle>
          <a:p>
            <a:endParaRPr lang="en-US"/>
          </a:p>
        </p:txBody>
      </p:sp>
      <p:sp>
        <p:nvSpPr>
          <p:cNvPr id="5" name="Slide Number Placeholder 4"/>
          <p:cNvSpPr>
            <a:spLocks noGrp="1"/>
          </p:cNvSpPr>
          <p:nvPr>
            <p:ph type="sldNum" sz="quarter" idx="3"/>
          </p:nvPr>
        </p:nvSpPr>
        <p:spPr>
          <a:xfrm>
            <a:off x="7157613" y="5022998"/>
            <a:ext cx="5475705" cy="265334"/>
          </a:xfrm>
          <a:prstGeom prst="rect">
            <a:avLst/>
          </a:prstGeom>
        </p:spPr>
        <p:txBody>
          <a:bodyPr vert="horz" lIns="91440" tIns="45720" rIns="91440" bIns="45720" rtlCol="0" anchor="b"/>
          <a:lstStyle>
            <a:lvl1pPr algn="r">
              <a:defRPr sz="695"/>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4033943" cy="347742"/>
          </a:xfrm>
          <a:prstGeom prst="rect">
            <a:avLst/>
          </a:prstGeom>
          <a:noFill/>
          <a:ln>
            <a:noFill/>
          </a:ln>
        </p:spPr>
        <p:txBody>
          <a:bodyPr spcFirstLastPara="1" wrap="square" lIns="92925" tIns="46450" rIns="92925" bIns="4645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4" name="Google Shape;4;n"/>
          <p:cNvSpPr txBox="1">
            <a:spLocks noGrp="1"/>
          </p:cNvSpPr>
          <p:nvPr>
            <p:ph type="dt" idx="10"/>
          </p:nvPr>
        </p:nvSpPr>
        <p:spPr>
          <a:xfrm>
            <a:off x="5273004" y="0"/>
            <a:ext cx="4033943" cy="347742"/>
          </a:xfrm>
          <a:prstGeom prst="rect">
            <a:avLst/>
          </a:prstGeom>
          <a:noFill/>
          <a:ln>
            <a:noFill/>
          </a:ln>
        </p:spPr>
        <p:txBody>
          <a:bodyPr spcFirstLastPara="1" wrap="square" lIns="92925" tIns="46450" rIns="92925" bIns="4645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5" name="Google Shape;5;n"/>
          <p:cNvSpPr>
            <a:spLocks noGrp="1" noRot="1" noChangeAspect="1"/>
          </p:cNvSpPr>
          <p:nvPr>
            <p:ph type="sldImg" idx="3"/>
          </p:nvPr>
        </p:nvSpPr>
        <p:spPr>
          <a:xfrm>
            <a:off x="2917825" y="522288"/>
            <a:ext cx="3476625" cy="2606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30911" y="3303549"/>
            <a:ext cx="7447279" cy="3129677"/>
          </a:xfrm>
          <a:prstGeom prst="rect">
            <a:avLst/>
          </a:prstGeom>
          <a:noFill/>
          <a:ln>
            <a:noFill/>
          </a:ln>
        </p:spPr>
        <p:txBody>
          <a:bodyPr spcFirstLastPara="1" wrap="square" lIns="92925" tIns="46450" rIns="92925" bIns="46450" anchor="t" anchorCtr="0">
            <a:normAutofit/>
          </a:bodyPr>
          <a:lstStyle>
            <a:lvl1pPr marL="457200" marR="0" lvl="0"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36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1" y="6605889"/>
            <a:ext cx="4033943" cy="347742"/>
          </a:xfrm>
          <a:prstGeom prst="rect">
            <a:avLst/>
          </a:prstGeom>
          <a:noFill/>
          <a:ln>
            <a:noFill/>
          </a:ln>
        </p:spPr>
        <p:txBody>
          <a:bodyPr spcFirstLastPara="1" wrap="square" lIns="92925" tIns="46450" rIns="92925" bIns="4645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Google Shape;8;n"/>
          <p:cNvSpPr txBox="1">
            <a:spLocks noGrp="1"/>
          </p:cNvSpPr>
          <p:nvPr>
            <p:ph type="sldNum" idx="12"/>
          </p:nvPr>
        </p:nvSpPr>
        <p:spPr>
          <a:xfrm>
            <a:off x="5273004" y="6605889"/>
            <a:ext cx="4033943" cy="347742"/>
          </a:xfrm>
          <a:prstGeom prst="rect">
            <a:avLst/>
          </a:prstGeom>
          <a:noFill/>
          <a:ln>
            <a:noFill/>
          </a:ln>
        </p:spPr>
        <p:txBody>
          <a:bodyPr spcFirstLastPara="1" wrap="square" lIns="92925" tIns="46450" rIns="92925" bIns="4645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a:spLocks noGrp="1" noRot="1" noChangeAspect="1"/>
          </p:cNvSpPr>
          <p:nvPr>
            <p:ph type="sldImg" idx="2"/>
          </p:nvPr>
        </p:nvSpPr>
        <p:spPr>
          <a:xfrm>
            <a:off x="2917825" y="522288"/>
            <a:ext cx="3476625" cy="2606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p2:notes"/>
          <p:cNvSpPr txBox="1">
            <a:spLocks noGrp="1"/>
          </p:cNvSpPr>
          <p:nvPr>
            <p:ph type="body" idx="1"/>
          </p:nvPr>
        </p:nvSpPr>
        <p:spPr>
          <a:xfrm>
            <a:off x="930911" y="3303549"/>
            <a:ext cx="7447200" cy="3129600"/>
          </a:xfrm>
          <a:prstGeom prst="rect">
            <a:avLst/>
          </a:prstGeom>
          <a:noFill/>
          <a:ln>
            <a:noFill/>
          </a:ln>
        </p:spPr>
        <p:txBody>
          <a:bodyPr spcFirstLastPara="1" wrap="square" lIns="92925" tIns="46450" rIns="92925" bIns="46450" anchor="t" anchorCtr="0">
            <a:noAutofit/>
          </a:bodyPr>
          <a:lstStyle/>
          <a:p>
            <a:pPr marL="0" lvl="0" indent="0" algn="l" rtl="0">
              <a:lnSpc>
                <a:spcPct val="100000"/>
              </a:lnSpc>
              <a:spcBef>
                <a:spcPts val="360"/>
              </a:spcBef>
              <a:spcAft>
                <a:spcPts val="0"/>
              </a:spcAft>
              <a:buSzPts val="1400"/>
              <a:buNone/>
            </a:pPr>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66" name="Google Shape;66;p2:notes"/>
          <p:cNvSpPr txBox="1">
            <a:spLocks noGrp="1"/>
          </p:cNvSpPr>
          <p:nvPr>
            <p:ph type="sldNum" idx="12"/>
          </p:nvPr>
        </p:nvSpPr>
        <p:spPr>
          <a:xfrm>
            <a:off x="5273004" y="6605889"/>
            <a:ext cx="4033800" cy="347700"/>
          </a:xfrm>
          <a:prstGeom prst="rect">
            <a:avLst/>
          </a:prstGeom>
          <a:noFill/>
          <a:ln>
            <a:noFill/>
          </a:ln>
        </p:spPr>
        <p:txBody>
          <a:bodyPr spcFirstLastPara="1" wrap="square" lIns="92925" tIns="46450" rIns="92925" bIns="46450" anchor="b"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grpSp>
        <p:nvGrpSpPr>
          <p:cNvPr id="36" name="Google Shape;36;p31"/>
          <p:cNvGrpSpPr/>
          <p:nvPr/>
        </p:nvGrpSpPr>
        <p:grpSpPr>
          <a:xfrm>
            <a:off x="6146800" y="0"/>
            <a:ext cx="2997200" cy="876300"/>
            <a:chOff x="6096000" y="3924300"/>
            <a:chExt cx="2997200" cy="876300"/>
          </a:xfrm>
        </p:grpSpPr>
        <p:sp>
          <p:nvSpPr>
            <p:cNvPr id="37" name="Google Shape;37;p3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8" name="Google Shape;38;p31"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39" name="Google Shape;39;p3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40" name="Google Shape;40;p31" descr="University_logo.jpg"/>
            <p:cNvPicPr preferRelativeResize="0"/>
            <p:nvPr/>
          </p:nvPicPr>
          <p:blipFill rotWithShape="1">
            <a:blip r:embed="rId3"/>
            <a:srcRect/>
            <a:stretch>
              <a:fillRect/>
            </a:stretch>
          </p:blipFill>
          <p:spPr>
            <a:xfrm>
              <a:off x="6572250" y="4257209"/>
              <a:ext cx="1876609" cy="457666"/>
            </a:xfrm>
            <a:prstGeom prst="rect">
              <a:avLst/>
            </a:prstGeom>
            <a:noFill/>
            <a:ln>
              <a:noFill/>
            </a:ln>
          </p:spPr>
        </p:pic>
      </p:grpSp>
      <p:pic>
        <p:nvPicPr>
          <p:cNvPr id="41" name="Google Shape;41;p31"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42" name="Google Shape;42;p31"/>
          <p:cNvGrpSpPr/>
          <p:nvPr/>
        </p:nvGrpSpPr>
        <p:grpSpPr>
          <a:xfrm>
            <a:off x="6146800" y="0"/>
            <a:ext cx="2997200" cy="876300"/>
            <a:chOff x="6096000" y="3924300"/>
            <a:chExt cx="2997200" cy="876300"/>
          </a:xfrm>
        </p:grpSpPr>
        <p:sp>
          <p:nvSpPr>
            <p:cNvPr id="43" name="Google Shape;43;p3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44" name="Google Shape;44;p31"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45" name="Google Shape;45;p3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46" name="Google Shape;46;p31" descr="logo.jpg"/>
          <p:cNvPicPr preferRelativeResize="0"/>
          <p:nvPr/>
        </p:nvPicPr>
        <p:blipFill rotWithShape="1">
          <a:blip r:embed="rId4"/>
          <a:srcRect/>
          <a:stretch>
            <a:fillRect/>
          </a:stretch>
        </p:blipFill>
        <p:spPr>
          <a:xfrm>
            <a:off x="6553200" y="228600"/>
            <a:ext cx="1920875" cy="609600"/>
          </a:xfrm>
          <a:prstGeom prst="rect">
            <a:avLst/>
          </a:prstGeom>
          <a:noFill/>
          <a:ln>
            <a:noFill/>
          </a:ln>
        </p:spPr>
      </p:pic>
      <p:sp>
        <p:nvSpPr>
          <p:cNvPr id="47" name="Google Shape;47;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b="1">
                <a:solidFill>
                  <a:schemeClr val="lt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3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9" name="Google Shape;49;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lnSpc>
                <a:spcPct val="100000"/>
              </a:lnSpc>
              <a:spcBef>
                <a:spcPts val="0"/>
              </a:spcBef>
              <a:spcAft>
                <a:spcPts val="0"/>
              </a:spcAft>
              <a:buClr>
                <a:srgbClr val="000000"/>
              </a:buClr>
              <a:buSzPts val="1400"/>
              <a:buFont typeface="Arial" panose="020B0604020202020204"/>
              <a:buNone/>
              <a:defRPr sz="3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1" name="Google Shape;11;p2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98989"/>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
        <p:nvSpPr>
          <p:cNvPr id="15" name="Google Shape;15;p29"/>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 name="Google Shape;16;p29"/>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7" name="Google Shape;17;p29"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hyperlink" Target="https://www.mongodb.c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10" name="Picture 9">
            <a:extLst>
              <a:ext uri="{FF2B5EF4-FFF2-40B4-BE49-F238E27FC236}">
                <a16:creationId xmlns:a16="http://schemas.microsoft.com/office/drawing/2014/main" id="{C38B6CC9-DF09-4835-D566-794969D56F62}"/>
              </a:ext>
            </a:extLst>
          </p:cNvPr>
          <p:cNvPicPr>
            <a:picLocks noChangeAspect="1"/>
          </p:cNvPicPr>
          <p:nvPr/>
        </p:nvPicPr>
        <p:blipFill>
          <a:blip r:embed="rId3"/>
          <a:srcRect/>
          <a:stretch/>
        </p:blipFill>
        <p:spPr>
          <a:xfrm>
            <a:off x="3168639" y="3087319"/>
            <a:ext cx="2806721" cy="2692698"/>
          </a:xfrm>
          <a:prstGeom prst="rect">
            <a:avLst/>
          </a:prstGeom>
        </p:spPr>
      </p:pic>
      <p:sp>
        <p:nvSpPr>
          <p:cNvPr id="69" name="Google Shape;69;p2"/>
          <p:cNvSpPr txBox="1">
            <a:spLocks noGrp="1"/>
          </p:cNvSpPr>
          <p:nvPr>
            <p:ph type="body" idx="1"/>
          </p:nvPr>
        </p:nvSpPr>
        <p:spPr>
          <a:xfrm>
            <a:off x="457200" y="2791752"/>
            <a:ext cx="8229600" cy="1958274"/>
          </a:xfrm>
          <a:prstGeom prst="rect">
            <a:avLst/>
          </a:prstGeom>
          <a:noFill/>
          <a:ln>
            <a:noFill/>
          </a:ln>
        </p:spPr>
        <p:txBody>
          <a:bodyPr spcFirstLastPara="1" wrap="square" lIns="91425" tIns="45700" rIns="91425" bIns="45700" anchor="t" anchorCtr="0">
            <a:noAutofit/>
          </a:bodyPr>
          <a:lstStyle/>
          <a:p>
            <a:pPr marL="38100" lvl="0" indent="0" algn="l" rtl="0">
              <a:lnSpc>
                <a:spcPct val="115000"/>
              </a:lnSpc>
              <a:spcBef>
                <a:spcPts val="1200"/>
              </a:spcBef>
              <a:spcAft>
                <a:spcPts val="0"/>
              </a:spcAft>
              <a:buClr>
                <a:srgbClr val="000000"/>
              </a:buClr>
              <a:buSzPts val="3000"/>
              <a:buNone/>
            </a:pPr>
            <a:br>
              <a:rPr lang="en-US" sz="3000" b="1" dirty="0">
                <a:solidFill>
                  <a:srgbClr val="000000"/>
                </a:solidFill>
                <a:highlight>
                  <a:srgbClr val="FFFFFF"/>
                </a:highlight>
                <a:latin typeface="Arial" panose="020B0604020202020204"/>
                <a:ea typeface="Arial" panose="020B0604020202020204"/>
                <a:cs typeface="Arial" panose="020B0604020202020204"/>
                <a:sym typeface="Arial" panose="020B0604020202020204"/>
              </a:rPr>
            </a:br>
            <a:endParaRPr sz="3000" dirty="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200"/>
              </a:spcBef>
              <a:spcAft>
                <a:spcPts val="0"/>
              </a:spcAft>
              <a:buSzPts val="1800"/>
              <a:buNone/>
            </a:pPr>
            <a:endParaRPr sz="3000" dirty="0">
              <a:solidFill>
                <a:srgbClr val="000000"/>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
        <p:nvSpPr>
          <p:cNvPr id="70" name="Google Shape;70;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a:t>1</a:t>
            </a:fld>
            <a:endParaRPr lang="en-US"/>
          </a:p>
        </p:txBody>
      </p:sp>
      <p:sp>
        <p:nvSpPr>
          <p:cNvPr id="2" name="Google Shape;144;p11">
            <a:extLst>
              <a:ext uri="{FF2B5EF4-FFF2-40B4-BE49-F238E27FC236}">
                <a16:creationId xmlns:a16="http://schemas.microsoft.com/office/drawing/2014/main" id="{5734F639-6EF5-9266-E04A-B07909C36ADB}"/>
              </a:ext>
            </a:extLst>
          </p:cNvPr>
          <p:cNvSpPr txBox="1">
            <a:spLocks noGrp="1"/>
          </p:cNvSpPr>
          <p:nvPr>
            <p:ph type="title"/>
          </p:nvPr>
        </p:nvSpPr>
        <p:spPr>
          <a:xfrm rot="10800000" flipV="1">
            <a:off x="0" y="5322094"/>
            <a:ext cx="5220928" cy="139935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50000"/>
              </a:lnSpc>
              <a:spcBef>
                <a:spcPts val="0"/>
              </a:spcBef>
              <a:spcAft>
                <a:spcPts val="0"/>
              </a:spcAft>
              <a:buClr>
                <a:schemeClr val="dk1"/>
              </a:buClr>
              <a:buSzPts val="1100"/>
              <a:buFont typeface="Arial" panose="020B0604020202020204"/>
              <a:buNone/>
            </a:pPr>
            <a:br>
              <a:rPr lang="en-US" sz="1800" b="0" dirty="0">
                <a:solidFill>
                  <a:schemeClr val="tx1"/>
                </a:solidFill>
                <a:latin typeface="Times New Roman" panose="02020603050405020304" pitchFamily="18" charset="0"/>
                <a:cs typeface="Times New Roman" panose="02020603050405020304" pitchFamily="18" charset="0"/>
              </a:rPr>
            </a:br>
            <a:r>
              <a:rPr lang="en-US" sz="1800" b="0" dirty="0">
                <a:solidFill>
                  <a:schemeClr val="tx1"/>
                </a:solidFill>
                <a:latin typeface="Times New Roman" panose="02020603050405020304" pitchFamily="18" charset="0"/>
                <a:cs typeface="Times New Roman" panose="02020603050405020304" pitchFamily="18" charset="0"/>
              </a:rPr>
              <a:t>Name :- Jai Kumar Goel (2210991693)</a:t>
            </a:r>
            <a:br>
              <a:rPr lang="en-US" sz="1800" b="0" dirty="0">
                <a:solidFill>
                  <a:schemeClr val="tx1"/>
                </a:solidFill>
                <a:latin typeface="Times New Roman" panose="02020603050405020304" pitchFamily="18" charset="0"/>
                <a:cs typeface="Times New Roman" panose="02020603050405020304" pitchFamily="18" charset="0"/>
              </a:rPr>
            </a:br>
            <a:r>
              <a:rPr lang="en-US" sz="1800" b="0" dirty="0">
                <a:solidFill>
                  <a:schemeClr val="tx1"/>
                </a:solidFill>
                <a:latin typeface="Times New Roman" panose="02020603050405020304" pitchFamily="18" charset="0"/>
                <a:cs typeface="Times New Roman" panose="02020603050405020304" pitchFamily="18" charset="0"/>
              </a:rPr>
              <a:t>              Ishika Goel (2210991690)</a:t>
            </a:r>
            <a:br>
              <a:rPr lang="en-US" sz="1800" b="0" dirty="0">
                <a:solidFill>
                  <a:schemeClr val="tx1"/>
                </a:solidFill>
                <a:latin typeface="Times New Roman" panose="02020603050405020304" pitchFamily="18" charset="0"/>
                <a:cs typeface="Times New Roman" panose="02020603050405020304" pitchFamily="18" charset="0"/>
              </a:rPr>
            </a:br>
            <a:r>
              <a:rPr lang="en-US" sz="1800" b="0" dirty="0">
                <a:solidFill>
                  <a:schemeClr val="tx1"/>
                </a:solidFill>
                <a:latin typeface="Times New Roman" panose="02020603050405020304" pitchFamily="18" charset="0"/>
                <a:cs typeface="Times New Roman" panose="02020603050405020304" pitchFamily="18" charset="0"/>
              </a:rPr>
              <a:t>              Kavita (2210991774)</a:t>
            </a:r>
            <a:br>
              <a:rPr lang="en-US" sz="1800" b="0" dirty="0">
                <a:solidFill>
                  <a:schemeClr val="tx1"/>
                </a:solidFill>
                <a:latin typeface="Times New Roman" panose="02020603050405020304" pitchFamily="18" charset="0"/>
                <a:cs typeface="Times New Roman" panose="02020603050405020304" pitchFamily="18" charset="0"/>
              </a:rPr>
            </a:br>
            <a:r>
              <a:rPr lang="en-US" sz="1800" b="0" dirty="0">
                <a:solidFill>
                  <a:schemeClr val="tx1"/>
                </a:solidFill>
                <a:latin typeface="Times New Roman" panose="02020603050405020304" pitchFamily="18" charset="0"/>
                <a:cs typeface="Times New Roman" panose="02020603050405020304" pitchFamily="18" charset="0"/>
              </a:rPr>
              <a:t>	</a:t>
            </a:r>
            <a:br>
              <a:rPr lang="en-US" sz="1800" b="0" dirty="0">
                <a:solidFill>
                  <a:schemeClr val="tx1"/>
                </a:solidFill>
                <a:latin typeface="Times New Roman" panose="02020603050405020304" pitchFamily="18" charset="0"/>
                <a:cs typeface="Times New Roman" panose="02020603050405020304" pitchFamily="18" charset="0"/>
              </a:rPr>
            </a:br>
            <a:endParaRPr lang="en-US" sz="1800" b="0" dirty="0">
              <a:solidFill>
                <a:schemeClr val="tx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B25FCCD-DD44-5A2C-6C88-B04633824F00}"/>
              </a:ext>
            </a:extLst>
          </p:cNvPr>
          <p:cNvSpPr txBox="1"/>
          <p:nvPr/>
        </p:nvSpPr>
        <p:spPr>
          <a:xfrm>
            <a:off x="5545393" y="5397903"/>
            <a:ext cx="3598606" cy="646331"/>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Submitted to :- Dr. Preeti Saini</a:t>
            </a:r>
          </a:p>
          <a:p>
            <a:r>
              <a:rPr lang="en-IN" sz="18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C8B7F21E-CC76-E62E-981B-91C3728F3CAD}"/>
              </a:ext>
            </a:extLst>
          </p:cNvPr>
          <p:cNvSpPr txBox="1"/>
          <p:nvPr/>
        </p:nvSpPr>
        <p:spPr>
          <a:xfrm>
            <a:off x="0" y="1023670"/>
            <a:ext cx="9143999" cy="1631216"/>
          </a:xfrm>
          <a:prstGeom prst="rect">
            <a:avLst/>
          </a:prstGeom>
          <a:noFill/>
        </p:spPr>
        <p:txBody>
          <a:bodyPr wrap="square">
            <a:spAutoFit/>
          </a:bodyPr>
          <a:lstStyle/>
          <a:p>
            <a:pPr algn="ctr"/>
            <a:r>
              <a:rPr lang="en-IN" sz="1800" b="1" dirty="0">
                <a:latin typeface="Times New Roman" panose="02020603050405020304" pitchFamily="18" charset="0"/>
                <a:cs typeface="Times New Roman" panose="02020603050405020304" pitchFamily="18" charset="0"/>
              </a:rPr>
              <a:t>Project Presentation of CO-OP Project at Industry (Module-2) (22CS421)</a:t>
            </a:r>
          </a:p>
          <a:p>
            <a:pPr algn="ctr"/>
            <a:endParaRPr lang="en-IN" b="1"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rPr>
              <a:t>On</a:t>
            </a:r>
          </a:p>
          <a:p>
            <a:pPr algn="ctr"/>
            <a:r>
              <a:rPr lang="en-IN" sz="4800" b="1" dirty="0">
                <a:latin typeface="Times New Roman" panose="02020603050405020304" pitchFamily="18" charset="0"/>
                <a:cs typeface="Times New Roman" panose="02020603050405020304" pitchFamily="18" charset="0"/>
              </a:rPr>
              <a:t>Title – </a:t>
            </a:r>
            <a:r>
              <a:rPr lang="en-IN" sz="4800" b="1" dirty="0" err="1">
                <a:latin typeface="Times New Roman" panose="02020603050405020304" pitchFamily="18" charset="0"/>
                <a:cs typeface="Times New Roman" panose="02020603050405020304" pitchFamily="18" charset="0"/>
              </a:rPr>
              <a:t>CodeSync</a:t>
            </a:r>
            <a:r>
              <a:rPr lang="en-IN" sz="4800" b="1"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22A40F50-BC44-86CD-15B7-21CEF77B5FBF}"/>
              </a:ext>
            </a:extLst>
          </p:cNvPr>
          <p:cNvSpPr txBox="1"/>
          <p:nvPr/>
        </p:nvSpPr>
        <p:spPr>
          <a:xfrm>
            <a:off x="1" y="3087319"/>
            <a:ext cx="9143999" cy="923330"/>
          </a:xfrm>
          <a:prstGeom prst="rect">
            <a:avLst/>
          </a:prstGeom>
          <a:noFill/>
        </p:spPr>
        <p:txBody>
          <a:bodyPr wrap="square">
            <a:spAutoFit/>
          </a:bodyPr>
          <a:lstStyle/>
          <a:p>
            <a:pPr algn="ctr"/>
            <a:r>
              <a:rPr lang="en-IN" sz="2600" dirty="0">
                <a:latin typeface="Times New Roman" panose="02020603050405020304" pitchFamily="18" charset="0"/>
                <a:cs typeface="Times New Roman" panose="02020603050405020304" pitchFamily="18" charset="0"/>
              </a:rPr>
              <a:t>     </a:t>
            </a:r>
            <a:r>
              <a:rPr lang="en-US" sz="2800" dirty="0"/>
              <a:t>Collaborate. Code. Connect.</a:t>
            </a:r>
          </a:p>
          <a:p>
            <a:pPr algn="ctr"/>
            <a:endParaRPr lang="en-IN"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71118-BFD4-85C5-13DC-C06ED397B018}"/>
              </a:ext>
            </a:extLst>
          </p:cNvPr>
          <p:cNvSpPr>
            <a:spLocks noGrp="1"/>
          </p:cNvSpPr>
          <p:nvPr>
            <p:ph type="title"/>
          </p:nvPr>
        </p:nvSpPr>
        <p:spPr/>
        <p:txBody>
          <a:bodyPr/>
          <a:lstStyle/>
          <a:p>
            <a:r>
              <a:rPr lang="en-IN" sz="2800" dirty="0">
                <a:solidFill>
                  <a:schemeClr val="tx1"/>
                </a:solidFill>
                <a:latin typeface="Times New Roman" panose="02020603050405020304" pitchFamily="18" charset="0"/>
                <a:cs typeface="Times New Roman" panose="02020603050405020304" pitchFamily="18" charset="0"/>
              </a:rPr>
              <a:t>Content</a:t>
            </a:r>
          </a:p>
        </p:txBody>
      </p:sp>
      <p:sp>
        <p:nvSpPr>
          <p:cNvPr id="3" name="Text Placeholder 2">
            <a:extLst>
              <a:ext uri="{FF2B5EF4-FFF2-40B4-BE49-F238E27FC236}">
                <a16:creationId xmlns:a16="http://schemas.microsoft.com/office/drawing/2014/main" id="{6196E3B6-A565-C767-8BBB-78B9EC8ABC83}"/>
              </a:ext>
            </a:extLst>
          </p:cNvPr>
          <p:cNvSpPr>
            <a:spLocks noGrp="1"/>
          </p:cNvSpPr>
          <p:nvPr>
            <p:ph type="body" idx="1"/>
          </p:nvPr>
        </p:nvSpPr>
        <p:spPr/>
        <p:txBody>
          <a:bodyPr/>
          <a:lstStyle/>
          <a:p>
            <a:r>
              <a:rPr lang="en-IN" sz="2000" dirty="0">
                <a:latin typeface="Times New Roman" panose="02020603050405020304" pitchFamily="18" charset="0"/>
                <a:cs typeface="Times New Roman" panose="02020603050405020304" pitchFamily="18" charset="0"/>
              </a:rPr>
              <a:t>Introduction/Summary</a:t>
            </a:r>
          </a:p>
          <a:p>
            <a:r>
              <a:rPr lang="en-IN" sz="2000" dirty="0">
                <a:latin typeface="Times New Roman" panose="02020603050405020304" pitchFamily="18" charset="0"/>
                <a:cs typeface="Times New Roman" panose="02020603050405020304" pitchFamily="18" charset="0"/>
              </a:rPr>
              <a:t>Info About Platform</a:t>
            </a:r>
          </a:p>
          <a:p>
            <a:r>
              <a:rPr lang="en-IN" sz="2000" dirty="0">
                <a:latin typeface="Times New Roman" panose="02020603050405020304" pitchFamily="18" charset="0"/>
                <a:cs typeface="Times New Roman" panose="02020603050405020304" pitchFamily="18" charset="0"/>
              </a:rPr>
              <a:t>Problem Statement</a:t>
            </a:r>
          </a:p>
          <a:p>
            <a:r>
              <a:rPr lang="en-IN" sz="2000" dirty="0">
                <a:latin typeface="Times New Roman" panose="02020603050405020304" pitchFamily="18" charset="0"/>
                <a:cs typeface="Times New Roman" panose="02020603050405020304" pitchFamily="18" charset="0"/>
              </a:rPr>
              <a:t>Objective</a:t>
            </a:r>
          </a:p>
          <a:p>
            <a:r>
              <a:rPr lang="en-IN" sz="2000" dirty="0">
                <a:latin typeface="Times New Roman" panose="02020603050405020304" pitchFamily="18" charset="0"/>
                <a:cs typeface="Times New Roman" panose="02020603050405020304" pitchFamily="18" charset="0"/>
              </a:rPr>
              <a:t>Technology Stack</a:t>
            </a:r>
          </a:p>
          <a:p>
            <a:r>
              <a:rPr lang="en-IN" sz="2000" dirty="0">
                <a:latin typeface="Times New Roman" panose="02020603050405020304" pitchFamily="18" charset="0"/>
                <a:cs typeface="Times New Roman" panose="02020603050405020304" pitchFamily="18" charset="0"/>
              </a:rPr>
              <a:t>Module Overview</a:t>
            </a:r>
          </a:p>
          <a:p>
            <a:r>
              <a:rPr lang="en-IN" sz="2000" dirty="0">
                <a:latin typeface="Times New Roman" panose="02020603050405020304" pitchFamily="18" charset="0"/>
                <a:cs typeface="Times New Roman" panose="02020603050405020304" pitchFamily="18" charset="0"/>
              </a:rPr>
              <a:t>Collaborative Code Editor</a:t>
            </a:r>
          </a:p>
          <a:p>
            <a:r>
              <a:rPr lang="en-IN" sz="2000" dirty="0">
                <a:latin typeface="Times New Roman" panose="02020603050405020304" pitchFamily="18" charset="0"/>
                <a:cs typeface="Times New Roman" panose="02020603050405020304" pitchFamily="18" charset="0"/>
              </a:rPr>
              <a:t>Result</a:t>
            </a:r>
          </a:p>
          <a:p>
            <a:r>
              <a:rPr lang="en-IN" sz="2000" dirty="0">
                <a:latin typeface="Times New Roman" panose="02020603050405020304" pitchFamily="18" charset="0"/>
                <a:cs typeface="Times New Roman" panose="02020603050405020304" pitchFamily="18" charset="0"/>
              </a:rPr>
              <a:t>Future Scope </a:t>
            </a:r>
          </a:p>
          <a:p>
            <a:r>
              <a:rPr lang="en-IN" sz="2000" dirty="0">
                <a:latin typeface="Times New Roman" panose="02020603050405020304" pitchFamily="18" charset="0"/>
                <a:cs typeface="Times New Roman" panose="02020603050405020304" pitchFamily="18" charset="0"/>
              </a:rPr>
              <a:t>References</a:t>
            </a:r>
          </a:p>
          <a:p>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0F7F1794-3323-A763-624D-D13340155A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163361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4C50-1E0F-E1E9-38F3-C33DDC16CEEE}"/>
              </a:ext>
            </a:extLst>
          </p:cNvPr>
          <p:cNvSpPr>
            <a:spLocks noGrp="1"/>
          </p:cNvSpPr>
          <p:nvPr>
            <p:ph type="title"/>
          </p:nvPr>
        </p:nvSpPr>
        <p:spPr/>
        <p:txBody>
          <a:bodyPr/>
          <a:lstStyle/>
          <a:p>
            <a:r>
              <a:rPr lang="en-IN" sz="2800" dirty="0">
                <a:solidFill>
                  <a:schemeClr val="tx1"/>
                </a:solidFill>
                <a:latin typeface="Times New Roman" panose="02020603050405020304" pitchFamily="18" charset="0"/>
                <a:cs typeface="Times New Roman" panose="02020603050405020304" pitchFamily="18" charset="0"/>
              </a:rPr>
              <a:t>Summary</a:t>
            </a:r>
          </a:p>
        </p:txBody>
      </p:sp>
      <p:sp>
        <p:nvSpPr>
          <p:cNvPr id="3" name="Text Placeholder 2">
            <a:extLst>
              <a:ext uri="{FF2B5EF4-FFF2-40B4-BE49-F238E27FC236}">
                <a16:creationId xmlns:a16="http://schemas.microsoft.com/office/drawing/2014/main" id="{43D2E708-378C-E4D4-7C5F-B2253E102401}"/>
              </a:ext>
            </a:extLst>
          </p:cNvPr>
          <p:cNvSpPr>
            <a:spLocks noGrp="1"/>
          </p:cNvSpPr>
          <p:nvPr>
            <p:ph type="body" idx="1"/>
          </p:nvPr>
        </p:nvSpPr>
        <p:spPr/>
        <p:txBody>
          <a:bodyPr/>
          <a:lstStyle/>
          <a:p>
            <a:pPr marL="114300" indent="0" algn="just">
              <a:buNone/>
            </a:pPr>
            <a:r>
              <a:rPr lang="en-US" sz="2000" b="1" dirty="0" err="1">
                <a:latin typeface="Times New Roman" panose="02020603050405020304" pitchFamily="18" charset="0"/>
                <a:cs typeface="Times New Roman" panose="02020603050405020304" pitchFamily="18" charset="0"/>
              </a:rPr>
              <a:t>CodeSync</a:t>
            </a:r>
            <a:r>
              <a:rPr lang="en-US" sz="2000" dirty="0">
                <a:latin typeface="Times New Roman" panose="02020603050405020304" pitchFamily="18" charset="0"/>
                <a:cs typeface="Times New Roman" panose="02020603050405020304" pitchFamily="18" charset="0"/>
              </a:rPr>
              <a:t> is a real-time online code collaboration platform designed to simplify and enhance collaborative software development. The platform enables multiple users to simultaneously write, edit, and preview code with live cursor tracking, shared terminal execution, and instant UI rendering. Built using a modern tech stack—Next.js, TypeScript, Tailwind CSS, Monaco Editor, and </a:t>
            </a:r>
            <a:r>
              <a:rPr lang="en-US" sz="2000" dirty="0" err="1">
                <a:latin typeface="Times New Roman" panose="02020603050405020304" pitchFamily="18" charset="0"/>
                <a:cs typeface="Times New Roman" panose="02020603050405020304" pitchFamily="18" charset="0"/>
              </a:rPr>
              <a:t>Socket.IO</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CodeSync</a:t>
            </a:r>
            <a:r>
              <a:rPr lang="en-US" sz="2000" dirty="0">
                <a:latin typeface="Times New Roman" panose="02020603050405020304" pitchFamily="18" charset="0"/>
                <a:cs typeface="Times New Roman" panose="02020603050405020304" pitchFamily="18" charset="0"/>
              </a:rPr>
              <a:t> emphasizes responsiveness and user experience. It integrates peer-to-peer video and voice chat using WebRTC (simple-peer), and offers a collaborative notepad for markdown-based documentation. GitHub API integration allows users to fetch and save files directly from public repositories without requiring authentication. The platform operates on a client-server model optimized for low latency and does not require user sign-up, making it ideal for pair programming, technical interviews, online workshops, and remote team collaboration. The expected outcome is a fully functional, no-login, multi-featured coding environment that enhances productivity and teamwork across distributed teams.</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B28EB73-DF2F-49C9-F51E-E50403CE5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383685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E6D5F-7338-CDF8-E4FF-FE611E60B2A9}"/>
              </a:ext>
            </a:extLst>
          </p:cNvPr>
          <p:cNvSpPr>
            <a:spLocks noGrp="1"/>
          </p:cNvSpPr>
          <p:nvPr>
            <p:ph type="title"/>
          </p:nvPr>
        </p:nvSpPr>
        <p:spPr/>
        <p:txBody>
          <a:bodyPr/>
          <a:lstStyle/>
          <a:p>
            <a:r>
              <a:rPr lang="en-IN" sz="2800" dirty="0">
                <a:solidFill>
                  <a:schemeClr val="tx1"/>
                </a:solidFill>
                <a:latin typeface="Times New Roman" panose="02020603050405020304" pitchFamily="18" charset="0"/>
                <a:cs typeface="Times New Roman" panose="02020603050405020304" pitchFamily="18" charset="0"/>
              </a:rPr>
              <a:t>Info about Platform</a:t>
            </a:r>
          </a:p>
        </p:txBody>
      </p:sp>
      <p:sp>
        <p:nvSpPr>
          <p:cNvPr id="3" name="Text Placeholder 2">
            <a:extLst>
              <a:ext uri="{FF2B5EF4-FFF2-40B4-BE49-F238E27FC236}">
                <a16:creationId xmlns:a16="http://schemas.microsoft.com/office/drawing/2014/main" id="{D86F7513-9ADA-7CE1-D485-8F83CABC23CF}"/>
              </a:ext>
            </a:extLst>
          </p:cNvPr>
          <p:cNvSpPr>
            <a:spLocks noGrp="1"/>
          </p:cNvSpPr>
          <p:nvPr>
            <p:ph type="body" idx="1"/>
          </p:nvPr>
        </p:nvSpPr>
        <p:spPr>
          <a:xfrm>
            <a:off x="457200" y="987228"/>
            <a:ext cx="8229600" cy="4984694"/>
          </a:xfrm>
        </p:spPr>
        <p:txBody>
          <a:bodyPr/>
          <a:lstStyle/>
          <a:p>
            <a:pPr marL="114300" indent="0">
              <a:buNone/>
            </a:pPr>
            <a:r>
              <a:rPr lang="en-US" sz="2000" b="1" dirty="0" err="1">
                <a:latin typeface="Times New Roman" panose="02020603050405020304" pitchFamily="18" charset="0"/>
                <a:cs typeface="Times New Roman" panose="02020603050405020304" pitchFamily="18" charset="0"/>
              </a:rPr>
              <a:t>CodeSync</a:t>
            </a: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algn="just">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Software development by students, educators, and remote teams has become the new norm. In this environment, having robust collaborative tools for coding is essential for effective teamwork and productivity. While there are several online collaboration tools, most are limited to rich text editing and lack developer-focused features.</a:t>
            </a:r>
          </a:p>
          <a:p>
            <a:pPr marL="114300" indent="0" algn="just">
              <a:buSzPct val="86000"/>
              <a:buNone/>
            </a:pPr>
            <a:endParaRPr lang="en-US" sz="2000" dirty="0">
              <a:latin typeface="Times New Roman" panose="02020603050405020304" pitchFamily="18" charset="0"/>
              <a:cs typeface="Times New Roman" panose="02020603050405020304" pitchFamily="18" charset="0"/>
            </a:endParaRPr>
          </a:p>
          <a:p>
            <a:pPr algn="just">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offers a modern collaborative experience tailored for programmers. It allows users to collaboratively write and edit code in real-time, chat live, and even connect via video calls — all within a single room-based environment. It simplifies teamwork, especially in distributed setups such as coding bootcamps, online classes, and remote development teams.</a:t>
            </a:r>
          </a:p>
          <a:p>
            <a:pPr marL="114300" indent="0">
              <a:buNone/>
            </a:pPr>
            <a:endParaRPr lang="en-US" sz="2000" dirty="0">
              <a:latin typeface="Times New Roman" panose="02020603050405020304" pitchFamily="18" charset="0"/>
              <a:cs typeface="Times New Roman" panose="02020603050405020304" pitchFamily="18" charset="0"/>
            </a:endParaRPr>
          </a:p>
          <a:p>
            <a:endParaRPr lang="en-IN" sz="2000" dirty="0"/>
          </a:p>
        </p:txBody>
      </p:sp>
      <p:sp>
        <p:nvSpPr>
          <p:cNvPr id="4" name="Slide Number Placeholder 3">
            <a:extLst>
              <a:ext uri="{FF2B5EF4-FFF2-40B4-BE49-F238E27FC236}">
                <a16:creationId xmlns:a16="http://schemas.microsoft.com/office/drawing/2014/main" id="{1B1E5B98-4D27-2033-B5C0-784E3EFF64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723972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EA58-2850-384C-DA1B-FB5B14D5324B}"/>
              </a:ext>
            </a:extLst>
          </p:cNvPr>
          <p:cNvSpPr>
            <a:spLocks noGrp="1"/>
          </p:cNvSpPr>
          <p:nvPr>
            <p:ph type="title"/>
          </p:nvPr>
        </p:nvSpPr>
        <p:spPr/>
        <p:txBody>
          <a:bodyPr/>
          <a:lstStyle/>
          <a:p>
            <a:r>
              <a:rPr lang="en-US" sz="2800" dirty="0">
                <a:solidFill>
                  <a:schemeClr val="tx1"/>
                </a:solidFill>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0D2E8CC9-9172-57EC-FCEF-D7EB767DF1F8}"/>
              </a:ext>
            </a:extLst>
          </p:cNvPr>
          <p:cNvSpPr>
            <a:spLocks noGrp="1"/>
          </p:cNvSpPr>
          <p:nvPr>
            <p:ph type="body" idx="1"/>
          </p:nvPr>
        </p:nvSpPr>
        <p:spPr>
          <a:xfrm>
            <a:off x="457200" y="1323048"/>
            <a:ext cx="8229600" cy="4525963"/>
          </a:xfrm>
        </p:spPr>
        <p:txBody>
          <a:bodyPr/>
          <a:lstStyle/>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Lack of real-time collaborative coding tools with full-featured communication.</a:t>
            </a:r>
          </a:p>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existing platforms focus on text editing,  not code collaboration.</a:t>
            </a:r>
          </a:p>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Developers need an integrated environment for live code, chat, and calls.</a:t>
            </a:r>
          </a:p>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lack of real-time collaborative coding tools that combine robust code editing with full-featured communication (voice/video).</a:t>
            </a:r>
          </a:p>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existing platforms are limited to basic text editing, lacking features like shared terminal execution, UI preview, or GitHub integration.</a:t>
            </a:r>
          </a:p>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Developers often have to use multiple tools simultaneously (e.g., VS Code Live Share, Zoom, and Slack), leading to context switching and inefficiency.</a:t>
            </a:r>
          </a:p>
          <a:p>
            <a:pPr>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platforms require mandatory sign-ups or subscriptions, making them unsuitable for quick sessions like interviews, hackathons, or mentoring.</a:t>
            </a:r>
          </a:p>
          <a:p>
            <a:pPr marL="114300" indent="0">
              <a:buNone/>
            </a:pPr>
            <a:endParaRPr lang="en-US" dirty="0"/>
          </a:p>
        </p:txBody>
      </p:sp>
      <p:sp>
        <p:nvSpPr>
          <p:cNvPr id="4" name="Slide Number Placeholder 3">
            <a:extLst>
              <a:ext uri="{FF2B5EF4-FFF2-40B4-BE49-F238E27FC236}">
                <a16:creationId xmlns:a16="http://schemas.microsoft.com/office/drawing/2014/main" id="{3B4DB40C-9811-933B-1BA9-9E44CA2A33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373626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66B7-529C-070B-D9A2-4C944AFC7D5E}"/>
              </a:ext>
            </a:extLst>
          </p:cNvPr>
          <p:cNvSpPr>
            <a:spLocks noGrp="1"/>
          </p:cNvSpPr>
          <p:nvPr>
            <p:ph type="title"/>
          </p:nvPr>
        </p:nvSpPr>
        <p:spPr/>
        <p:txBody>
          <a:bodyPr/>
          <a:lstStyle/>
          <a:p>
            <a:r>
              <a:rPr lang="en-US" dirty="0">
                <a:solidFill>
                  <a:schemeClr val="tx1"/>
                </a:solidFill>
              </a:rPr>
              <a:t>Objective</a:t>
            </a:r>
          </a:p>
        </p:txBody>
      </p:sp>
      <p:sp>
        <p:nvSpPr>
          <p:cNvPr id="3" name="Text Placeholder 2">
            <a:extLst>
              <a:ext uri="{FF2B5EF4-FFF2-40B4-BE49-F238E27FC236}">
                <a16:creationId xmlns:a16="http://schemas.microsoft.com/office/drawing/2014/main" id="{CEB7787E-D3CA-5C3E-E207-91ECFC026385}"/>
              </a:ext>
            </a:extLst>
          </p:cNvPr>
          <p:cNvSpPr>
            <a:spLocks noGrp="1"/>
          </p:cNvSpPr>
          <p:nvPr>
            <p:ph type="body" idx="1"/>
          </p:nvPr>
        </p:nvSpPr>
        <p:spPr/>
        <p:txBody>
          <a:bodyPr/>
          <a:lstStyle/>
          <a:p>
            <a:pPr marL="114300" indent="0">
              <a:buNone/>
            </a:pPr>
            <a:r>
              <a:rPr lang="en-US" sz="2000" b="1" dirty="0">
                <a:latin typeface="Times New Roman" panose="02020603050405020304" pitchFamily="18" charset="0"/>
                <a:cs typeface="Times New Roman" panose="02020603050405020304" pitchFamily="18" charset="0"/>
              </a:rPr>
              <a:t>1. Real-Time Code Editing</a:t>
            </a:r>
          </a:p>
          <a:p>
            <a:r>
              <a:rPr lang="en-US" sz="2000" dirty="0">
                <a:latin typeface="Times New Roman" panose="02020603050405020304" pitchFamily="18" charset="0"/>
                <a:cs typeface="Times New Roman" panose="02020603050405020304" pitchFamily="18" charset="0"/>
              </a:rPr>
              <a:t>Collaborative editor with syntax highlighting for multiple languages.</a:t>
            </a:r>
          </a:p>
          <a:p>
            <a:r>
              <a:rPr lang="en-US" sz="2000" dirty="0">
                <a:latin typeface="Times New Roman" panose="02020603050405020304" pitchFamily="18" charset="0"/>
                <a:cs typeface="Times New Roman" panose="02020603050405020304" pitchFamily="18" charset="0"/>
              </a:rPr>
              <a:t>Auto-indentation, bracket matching, and code formatting.</a:t>
            </a:r>
          </a:p>
          <a:p>
            <a:r>
              <a:rPr lang="en-US" sz="2000" dirty="0">
                <a:latin typeface="Times New Roman" panose="02020603050405020304" pitchFamily="18" charset="0"/>
                <a:cs typeface="Times New Roman" panose="02020603050405020304" pitchFamily="18" charset="0"/>
              </a:rPr>
              <a:t>Real-time cursor tracking to see other users’ edits instantly.</a:t>
            </a:r>
          </a:p>
          <a:p>
            <a:r>
              <a:rPr lang="en-US" sz="2000" dirty="0">
                <a:latin typeface="Times New Roman" panose="02020603050405020304" pitchFamily="18" charset="0"/>
                <a:cs typeface="Times New Roman" panose="02020603050405020304" pitchFamily="18" charset="0"/>
              </a:rPr>
              <a:t>Multiple file/project support in a shared workspace.</a:t>
            </a:r>
          </a:p>
          <a:p>
            <a:r>
              <a:rPr lang="en-US" sz="2000" dirty="0">
                <a:latin typeface="Times New Roman" panose="02020603050405020304" pitchFamily="18" charset="0"/>
                <a:cs typeface="Times New Roman" panose="02020603050405020304" pitchFamily="18" charset="0"/>
              </a:rPr>
              <a:t>Support for themes (light/dark mode).</a:t>
            </a:r>
          </a:p>
          <a:p>
            <a:endParaRPr lang="en-US" sz="2000" dirty="0">
              <a:latin typeface="Times New Roman" panose="02020603050405020304" pitchFamily="18" charset="0"/>
              <a:cs typeface="Times New Roman" panose="02020603050405020304" pitchFamily="18" charset="0"/>
            </a:endParaRPr>
          </a:p>
          <a:p>
            <a:pPr marL="114300" indent="0">
              <a:buNone/>
            </a:pPr>
            <a:r>
              <a:rPr lang="en-US" sz="2000" b="1" dirty="0">
                <a:latin typeface="Times New Roman" panose="02020603050405020304" pitchFamily="18" charset="0"/>
                <a:cs typeface="Times New Roman" panose="02020603050405020304" pitchFamily="18" charset="0"/>
              </a:rPr>
              <a:t>2. Communication Tools</a:t>
            </a:r>
          </a:p>
          <a:p>
            <a:r>
              <a:rPr lang="en-US" sz="2000" dirty="0">
                <a:latin typeface="Times New Roman" panose="02020603050405020304" pitchFamily="18" charset="0"/>
                <a:cs typeface="Times New Roman" panose="02020603050405020304" pitchFamily="18" charset="0"/>
              </a:rPr>
              <a:t>Live chat (text-based) integrated with the code editor.</a:t>
            </a:r>
          </a:p>
          <a:p>
            <a:r>
              <a:rPr lang="en-US" sz="2000" dirty="0">
                <a:latin typeface="Times New Roman" panose="02020603050405020304" pitchFamily="18" charset="0"/>
                <a:cs typeface="Times New Roman" panose="02020603050405020304" pitchFamily="18" charset="0"/>
              </a:rPr>
              <a:t>Voice and video calls within rooms for direct communication.</a:t>
            </a:r>
          </a:p>
          <a:p>
            <a:r>
              <a:rPr lang="en-US" sz="2000" dirty="0">
                <a:latin typeface="Times New Roman" panose="02020603050405020304" pitchFamily="18" charset="0"/>
                <a:cs typeface="Times New Roman" panose="02020603050405020304" pitchFamily="18" charset="0"/>
              </a:rPr>
              <a:t>Emoji reactions and inline comments for quick feedback.</a:t>
            </a:r>
          </a:p>
          <a:p>
            <a:r>
              <a:rPr lang="en-US" sz="2000" dirty="0">
                <a:latin typeface="Times New Roman" panose="02020603050405020304" pitchFamily="18" charset="0"/>
                <a:cs typeface="Times New Roman" panose="02020603050405020304" pitchFamily="18" charset="0"/>
              </a:rPr>
              <a:t>Threaded discussions tied to specific lines of code.</a:t>
            </a:r>
          </a:p>
          <a:p>
            <a:endParaRPr lang="en-US" sz="2000" dirty="0"/>
          </a:p>
          <a:p>
            <a:endParaRPr lang="en-US" dirty="0"/>
          </a:p>
        </p:txBody>
      </p:sp>
      <p:sp>
        <p:nvSpPr>
          <p:cNvPr id="4" name="Slide Number Placeholder 3">
            <a:extLst>
              <a:ext uri="{FF2B5EF4-FFF2-40B4-BE49-F238E27FC236}">
                <a16:creationId xmlns:a16="http://schemas.microsoft.com/office/drawing/2014/main" id="{735DF689-3C2A-487D-D29B-1F03F2CAE9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80566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14E804-2789-B918-BBB1-E20FF2344E54}"/>
              </a:ext>
            </a:extLst>
          </p:cNvPr>
          <p:cNvSpPr>
            <a:spLocks noGrp="1"/>
          </p:cNvSpPr>
          <p:nvPr>
            <p:ph type="body" idx="1"/>
          </p:nvPr>
        </p:nvSpPr>
        <p:spPr>
          <a:xfrm>
            <a:off x="457200" y="1283110"/>
            <a:ext cx="8229600" cy="4525963"/>
          </a:xfrm>
        </p:spPr>
        <p:txBody>
          <a:bodyPr/>
          <a:lstStyle/>
          <a:p>
            <a:pPr marL="114300" indent="0">
              <a:buNone/>
            </a:pPr>
            <a:r>
              <a:rPr lang="en-US" sz="2000" b="1" dirty="0">
                <a:latin typeface="Times New Roman" panose="02020603050405020304" pitchFamily="18" charset="0"/>
                <a:cs typeface="Times New Roman" panose="02020603050405020304" pitchFamily="18" charset="0"/>
              </a:rPr>
              <a:t>3. Room &amp; Session Management</a:t>
            </a:r>
          </a:p>
          <a:p>
            <a:r>
              <a:rPr lang="en-US" sz="2000" dirty="0">
                <a:latin typeface="Times New Roman" panose="02020603050405020304" pitchFamily="18" charset="0"/>
                <a:cs typeface="Times New Roman" panose="02020603050405020304" pitchFamily="18" charset="0"/>
              </a:rPr>
              <a:t>Create rooms with unique, shareable links.</a:t>
            </a:r>
          </a:p>
          <a:p>
            <a:r>
              <a:rPr lang="en-US" sz="2000" dirty="0">
                <a:latin typeface="Times New Roman" panose="02020603050405020304" pitchFamily="18" charset="0"/>
                <a:cs typeface="Times New Roman" panose="02020603050405020304" pitchFamily="18" charset="0"/>
              </a:rPr>
              <a:t>Password-protected rooms for private collaboration.</a:t>
            </a:r>
          </a:p>
          <a:p>
            <a:r>
              <a:rPr lang="en-US" sz="2000" dirty="0">
                <a:latin typeface="Times New Roman" panose="02020603050405020304" pitchFamily="18" charset="0"/>
                <a:cs typeface="Times New Roman" panose="02020603050405020304" pitchFamily="18" charset="0"/>
              </a:rPr>
              <a:t>Temporary guest access without full registration.</a:t>
            </a:r>
          </a:p>
          <a:p>
            <a:r>
              <a:rPr lang="en-US" sz="2000" dirty="0">
                <a:latin typeface="Times New Roman" panose="02020603050405020304" pitchFamily="18" charset="0"/>
                <a:cs typeface="Times New Roman" panose="02020603050405020304" pitchFamily="18" charset="0"/>
              </a:rPr>
              <a:t>Persistent room history and saved code sessions.</a:t>
            </a:r>
          </a:p>
          <a:p>
            <a:endParaRPr lang="en-US" sz="2000" dirty="0">
              <a:latin typeface="Times New Roman" panose="02020603050405020304" pitchFamily="18" charset="0"/>
              <a:cs typeface="Times New Roman" panose="02020603050405020304" pitchFamily="18" charset="0"/>
            </a:endParaRPr>
          </a:p>
          <a:p>
            <a:pPr marL="114300" indent="0">
              <a:buNone/>
            </a:pPr>
            <a:r>
              <a:rPr lang="en-US" sz="2000" b="1" dirty="0">
                <a:latin typeface="Times New Roman" panose="02020603050405020304" pitchFamily="18" charset="0"/>
                <a:cs typeface="Times New Roman" panose="02020603050405020304" pitchFamily="18" charset="0"/>
              </a:rPr>
              <a:t>4. Developer Productivity Tools</a:t>
            </a:r>
          </a:p>
          <a:p>
            <a:r>
              <a:rPr lang="en-US" sz="2000" dirty="0">
                <a:latin typeface="Times New Roman" panose="02020603050405020304" pitchFamily="18" charset="0"/>
                <a:cs typeface="Times New Roman" panose="02020603050405020304" pitchFamily="18" charset="0"/>
              </a:rPr>
              <a:t>Integrated terminal for running code in real time (sandboxed environment).</a:t>
            </a:r>
          </a:p>
          <a:p>
            <a:r>
              <a:rPr lang="en-US" sz="2000" dirty="0">
                <a:latin typeface="Times New Roman" panose="02020603050405020304" pitchFamily="18" charset="0"/>
                <a:cs typeface="Times New Roman" panose="02020603050405020304" pitchFamily="18" charset="0"/>
              </a:rPr>
              <a:t>Support for multiple programming languages and runtimes.</a:t>
            </a:r>
          </a:p>
          <a:p>
            <a:r>
              <a:rPr lang="en-US" sz="2000" dirty="0">
                <a:latin typeface="Times New Roman" panose="02020603050405020304" pitchFamily="18" charset="0"/>
                <a:cs typeface="Times New Roman" panose="02020603050405020304" pitchFamily="18" charset="0"/>
              </a:rPr>
              <a:t>Code execution results displayed in a shared console.</a:t>
            </a:r>
          </a:p>
          <a:p>
            <a:endParaRPr lang="en-US" dirty="0"/>
          </a:p>
          <a:p>
            <a:endParaRPr lang="en-IN" dirty="0"/>
          </a:p>
        </p:txBody>
      </p:sp>
      <p:sp>
        <p:nvSpPr>
          <p:cNvPr id="4" name="Slide Number Placeholder 3">
            <a:extLst>
              <a:ext uri="{FF2B5EF4-FFF2-40B4-BE49-F238E27FC236}">
                <a16:creationId xmlns:a16="http://schemas.microsoft.com/office/drawing/2014/main" id="{840FC031-87A3-21A2-F58C-3D4EF9AB06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66262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F0730-6CBC-1412-1100-6907956E726C}"/>
              </a:ext>
            </a:extLst>
          </p:cNvPr>
          <p:cNvSpPr>
            <a:spLocks noGrp="1"/>
          </p:cNvSpPr>
          <p:nvPr>
            <p:ph type="title"/>
          </p:nvPr>
        </p:nvSpPr>
        <p:spPr/>
        <p:txBody>
          <a:bodyPr/>
          <a:lstStyle/>
          <a:p>
            <a:r>
              <a:rPr lang="en-US" sz="2800" dirty="0">
                <a:solidFill>
                  <a:schemeClr val="tx1"/>
                </a:solidFill>
                <a:latin typeface="Times New Roman" panose="02020603050405020304" pitchFamily="18" charset="0"/>
                <a:cs typeface="Times New Roman" panose="02020603050405020304" pitchFamily="18" charset="0"/>
              </a:rPr>
              <a:t>Technology Stack</a:t>
            </a:r>
          </a:p>
        </p:txBody>
      </p:sp>
      <p:sp>
        <p:nvSpPr>
          <p:cNvPr id="3" name="Text Placeholder 2">
            <a:extLst>
              <a:ext uri="{FF2B5EF4-FFF2-40B4-BE49-F238E27FC236}">
                <a16:creationId xmlns:a16="http://schemas.microsoft.com/office/drawing/2014/main" id="{56885767-19FE-7669-A66A-026A163243ED}"/>
              </a:ext>
            </a:extLst>
          </p:cNvPr>
          <p:cNvSpPr>
            <a:spLocks noGrp="1"/>
          </p:cNvSpPr>
          <p:nvPr>
            <p:ph type="body" idx="1"/>
          </p:nvPr>
        </p:nvSpPr>
        <p:spPr/>
        <p:txBody>
          <a:bodyPr/>
          <a:lstStyle/>
          <a:p>
            <a:pPr marL="0" indent="0">
              <a:lnSpc>
                <a:spcPct val="150000"/>
              </a:lnSpc>
              <a:buSzPct val="86000"/>
              <a:buNone/>
            </a:pPr>
            <a:r>
              <a:rPr lang="en-US" sz="2000" b="1" dirty="0">
                <a:latin typeface="Times New Roman" panose="02020603050405020304" pitchFamily="18" charset="0"/>
                <a:cs typeface="Times New Roman" panose="02020603050405020304" pitchFamily="18" charset="0"/>
              </a:rPr>
              <a:t>Frontend</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React.js – Core frontend framework for building the UI.</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Tailwind CSS / Material UI – For responsive and modern UI components.</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Monaco Editor (VS Code’s editor) or </a:t>
            </a:r>
            <a:r>
              <a:rPr lang="en-US" sz="2000" dirty="0" err="1">
                <a:latin typeface="Times New Roman" panose="02020603050405020304" pitchFamily="18" charset="0"/>
                <a:cs typeface="Times New Roman" panose="02020603050405020304" pitchFamily="18" charset="0"/>
              </a:rPr>
              <a:t>CodeMirror</a:t>
            </a:r>
            <a:r>
              <a:rPr lang="en-US" sz="2000" dirty="0">
                <a:latin typeface="Times New Roman" panose="02020603050405020304" pitchFamily="18" charset="0"/>
                <a:cs typeface="Times New Roman" panose="02020603050405020304" pitchFamily="18" charset="0"/>
              </a:rPr>
              <a:t> 6 – Real-time collaborative code editing with syntax highlighting.</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React Router – For navigation between rooms, dashboard, and settings.</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WebRTC – For peer-to-peer video/audio calls.</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Socket.IO client – For real-time messaging and code synchronization.</a:t>
            </a:r>
          </a:p>
          <a:p>
            <a:pPr indent="-457200">
              <a:lnSpc>
                <a:spcPct val="150000"/>
              </a:lnSpc>
              <a:buSzPct val="860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0" indent="0">
              <a:lnSpc>
                <a:spcPct val="150000"/>
              </a:lnSpc>
              <a:buSzPct val="8600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B916805-E231-1562-B265-61920ABC7D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166453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676746-5221-0D85-7F19-E9247C772B40}"/>
              </a:ext>
            </a:extLst>
          </p:cNvPr>
          <p:cNvSpPr>
            <a:spLocks noGrp="1"/>
          </p:cNvSpPr>
          <p:nvPr>
            <p:ph type="body" idx="1"/>
          </p:nvPr>
        </p:nvSpPr>
        <p:spPr/>
        <p:txBody>
          <a:bodyPr/>
          <a:lstStyle/>
          <a:p>
            <a:pPr marL="0" indent="0">
              <a:lnSpc>
                <a:spcPct val="150000"/>
              </a:lnSpc>
              <a:buSzPct val="86000"/>
              <a:buNone/>
            </a:pPr>
            <a:r>
              <a:rPr lang="en-US" sz="2000" b="1" dirty="0">
                <a:latin typeface="Times New Roman" panose="02020603050405020304" pitchFamily="18" charset="0"/>
                <a:cs typeface="Times New Roman" panose="02020603050405020304" pitchFamily="18" charset="0"/>
              </a:rPr>
              <a:t>Backend</a:t>
            </a:r>
          </a:p>
          <a:p>
            <a:pPr indent="-457200">
              <a:lnSpc>
                <a:spcPct val="150000"/>
              </a:lnSpc>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Node.js – JavaScript runtime.</a:t>
            </a:r>
          </a:p>
          <a:p>
            <a:pPr indent="-457200">
              <a:lnSpc>
                <a:spcPct val="150000"/>
              </a:lnSpc>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Express.js – Backend web framework for API endpoints.</a:t>
            </a:r>
          </a:p>
          <a:p>
            <a:pPr indent="-457200">
              <a:lnSpc>
                <a:spcPct val="150000"/>
              </a:lnSpc>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Socket.IO server – Real-time communication between users.</a:t>
            </a:r>
          </a:p>
          <a:p>
            <a:pPr indent="-457200">
              <a:lnSpc>
                <a:spcPct val="150000"/>
              </a:lnSpc>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WebRTC signaling server – For establishing video/audio connections.</a:t>
            </a:r>
          </a:p>
          <a:p>
            <a:pPr indent="-457200">
              <a:lnSpc>
                <a:spcPct val="150000"/>
              </a:lnSpc>
              <a:buSzPct val="86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JWT (JSON Web Tokens) – For authentication and authorization.</a:t>
            </a:r>
          </a:p>
          <a:p>
            <a:pPr marL="0" indent="0">
              <a:lnSpc>
                <a:spcPct val="150000"/>
              </a:lnSpc>
              <a:buSzPct val="86000"/>
              <a:buNone/>
            </a:pPr>
            <a:endParaRPr lang="en-US" sz="2000" dirty="0">
              <a:latin typeface="Times New Roman" panose="02020603050405020304" pitchFamily="18" charset="0"/>
              <a:cs typeface="Times New Roman" panose="02020603050405020304" pitchFamily="18" charset="0"/>
            </a:endParaRPr>
          </a:p>
          <a:p>
            <a:pPr indent="-457200">
              <a:lnSpc>
                <a:spcPct val="150000"/>
              </a:lnSpc>
              <a:buSzPct val="860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0" indent="0">
              <a:lnSpc>
                <a:spcPct val="150000"/>
              </a:lnSpc>
              <a:buSzPct val="86000"/>
              <a:buNone/>
            </a:pPr>
            <a:endParaRPr lang="en-US" sz="20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921EAA9-8D4B-11C2-562F-9E75F8DC13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684342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1EF2-ECD1-86CD-8C78-CD5DC64938E6}"/>
              </a:ext>
            </a:extLst>
          </p:cNvPr>
          <p:cNvSpPr>
            <a:spLocks noGrp="1"/>
          </p:cNvSpPr>
          <p:nvPr>
            <p:ph type="title"/>
          </p:nvPr>
        </p:nvSpPr>
        <p:spPr/>
        <p:txBody>
          <a:bodyPr/>
          <a:lstStyle/>
          <a:p>
            <a:r>
              <a:rPr lang="en-US" sz="2800" dirty="0">
                <a:solidFill>
                  <a:schemeClr val="tx1"/>
                </a:solidFill>
                <a:latin typeface="Times New Roman" panose="02020603050405020304" pitchFamily="18" charset="0"/>
                <a:cs typeface="Times New Roman" panose="02020603050405020304" pitchFamily="18" charset="0"/>
              </a:rPr>
              <a:t>Collaborative Code Editor</a:t>
            </a:r>
          </a:p>
        </p:txBody>
      </p:sp>
      <p:sp>
        <p:nvSpPr>
          <p:cNvPr id="3" name="Text Placeholder 2">
            <a:extLst>
              <a:ext uri="{FF2B5EF4-FFF2-40B4-BE49-F238E27FC236}">
                <a16:creationId xmlns:a16="http://schemas.microsoft.com/office/drawing/2014/main" id="{4284C36A-0633-B573-FEE4-8D780069F7B4}"/>
              </a:ext>
            </a:extLst>
          </p:cNvPr>
          <p:cNvSpPr>
            <a:spLocks noGrp="1"/>
          </p:cNvSpPr>
          <p:nvPr>
            <p:ph type="body" idx="1"/>
          </p:nvPr>
        </p:nvSpPr>
        <p:spPr/>
        <p:txBody>
          <a:bodyPr/>
          <a:lstStyle/>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Built using CodeMirror/Monaco Editor.</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updates using Socket.IO.</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Multiple users can edit code simultaneously.</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 for multiple languages with syntax highlighting</a:t>
            </a:r>
            <a:r>
              <a:rPr lang="en-US" sz="2000" dirty="0"/>
              <a:t>.</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Authentication: Signup/Login with validation</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Editor: Real-time sync with operational transformation</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Chat System: Live messaging with Socket.IO</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Video Calls: Peer-to-peer media using WebRTC</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Room Management: Create and invite others easily</a:t>
            </a:r>
          </a:p>
          <a:p>
            <a:pPr indent="-457200">
              <a:lnSpc>
                <a:spcPct val="150000"/>
              </a:lnSpc>
              <a:buSzPct val="86000"/>
              <a:buFont typeface="Wingdings" panose="05000000000000000000" pitchFamily="2" charset="2"/>
              <a:buChar char="Ø"/>
            </a:pPr>
            <a:endParaRPr lang="en-US" sz="2400" dirty="0"/>
          </a:p>
        </p:txBody>
      </p:sp>
      <p:sp>
        <p:nvSpPr>
          <p:cNvPr id="4" name="Slide Number Placeholder 3">
            <a:extLst>
              <a:ext uri="{FF2B5EF4-FFF2-40B4-BE49-F238E27FC236}">
                <a16:creationId xmlns:a16="http://schemas.microsoft.com/office/drawing/2014/main" id="{83B343B7-02F7-BDD8-7A06-EC3F98D95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710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886B-741B-480D-117C-194FE5E0AF8F}"/>
              </a:ext>
            </a:extLst>
          </p:cNvPr>
          <p:cNvSpPr>
            <a:spLocks noGrp="1"/>
          </p:cNvSpPr>
          <p:nvPr>
            <p:ph type="title"/>
          </p:nvPr>
        </p:nvSpPr>
        <p:spPr/>
        <p:txBody>
          <a:bodyPr/>
          <a:lstStyle/>
          <a:p>
            <a:r>
              <a:rPr lang="en-US" sz="2800" dirty="0">
                <a:solidFill>
                  <a:schemeClr val="tx1"/>
                </a:solidFill>
                <a:latin typeface="Times New Roman" panose="02020603050405020304" pitchFamily="18" charset="0"/>
                <a:cs typeface="Times New Roman" panose="02020603050405020304" pitchFamily="18" charset="0"/>
              </a:rPr>
              <a:t>Chat and Communication</a:t>
            </a:r>
          </a:p>
        </p:txBody>
      </p:sp>
      <p:sp>
        <p:nvSpPr>
          <p:cNvPr id="3" name="Text Placeholder 2">
            <a:extLst>
              <a:ext uri="{FF2B5EF4-FFF2-40B4-BE49-F238E27FC236}">
                <a16:creationId xmlns:a16="http://schemas.microsoft.com/office/drawing/2014/main" id="{D68CD768-4FEA-EE24-EAAD-B33354C0F600}"/>
              </a:ext>
            </a:extLst>
          </p:cNvPr>
          <p:cNvSpPr>
            <a:spLocks noGrp="1"/>
          </p:cNvSpPr>
          <p:nvPr>
            <p:ph type="body" idx="1"/>
          </p:nvPr>
        </p:nvSpPr>
        <p:spPr/>
        <p:txBody>
          <a:bodyPr/>
          <a:lstStyle/>
          <a:p>
            <a:pPr marL="342900">
              <a:lnSpc>
                <a:spcPct val="150000"/>
              </a:lnSpc>
              <a:buSzPct val="860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Real-time chat built using Socket.IO.</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Features: emojis, timestamps, typing indicator.</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Separate chat section for each room.</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WebRTC-based peer-to-peer video calling.</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Built-in microphone and camera support.</a:t>
            </a:r>
          </a:p>
          <a:p>
            <a:pPr indent="-457200">
              <a:lnSpc>
                <a:spcPct val="150000"/>
              </a:lnSpc>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Users can mute/unmute, toggle camera, or leave call</a:t>
            </a:r>
          </a:p>
        </p:txBody>
      </p:sp>
      <p:sp>
        <p:nvSpPr>
          <p:cNvPr id="4" name="Slide Number Placeholder 3">
            <a:extLst>
              <a:ext uri="{FF2B5EF4-FFF2-40B4-BE49-F238E27FC236}">
                <a16:creationId xmlns:a16="http://schemas.microsoft.com/office/drawing/2014/main" id="{701659AC-E97F-B4E5-6FCB-CE9E7596CD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1301919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94D0-256D-1EFB-8A76-2AD01540CC78}"/>
              </a:ext>
            </a:extLst>
          </p:cNvPr>
          <p:cNvSpPr>
            <a:spLocks noGrp="1"/>
          </p:cNvSpPr>
          <p:nvPr>
            <p:ph type="title"/>
          </p:nvPr>
        </p:nvSpPr>
        <p:spPr/>
        <p:txBody>
          <a:bodyPr/>
          <a:lstStyle/>
          <a:p>
            <a:r>
              <a:rPr lang="en-IN" sz="3200" dirty="0">
                <a:solidFill>
                  <a:schemeClr val="tx1"/>
                </a:solidFill>
                <a:latin typeface="Times New Roman" panose="02020603050405020304" pitchFamily="18" charset="0"/>
                <a:cs typeface="Times New Roman" panose="02020603050405020304" pitchFamily="18" charset="0"/>
              </a:rPr>
              <a:t> </a:t>
            </a:r>
            <a:r>
              <a:rPr lang="en-IN" sz="2800" dirty="0">
                <a:solidFill>
                  <a:schemeClr val="tx1"/>
                </a:solidFill>
                <a:latin typeface="Times New Roman" panose="02020603050405020304" pitchFamily="18" charset="0"/>
                <a:cs typeface="Times New Roman" panose="02020603050405020304" pitchFamily="18" charset="0"/>
              </a:rPr>
              <a:t>Result</a:t>
            </a:r>
          </a:p>
        </p:txBody>
      </p:sp>
      <p:sp>
        <p:nvSpPr>
          <p:cNvPr id="4" name="Slide Number Placeholder 3">
            <a:extLst>
              <a:ext uri="{FF2B5EF4-FFF2-40B4-BE49-F238E27FC236}">
                <a16:creationId xmlns:a16="http://schemas.microsoft.com/office/drawing/2014/main" id="{82745E40-5CE0-ECE1-EBDC-C18FCFA16C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Rectangle: Rounded Corners 4">
            <a:extLst>
              <a:ext uri="{FF2B5EF4-FFF2-40B4-BE49-F238E27FC236}">
                <a16:creationId xmlns:a16="http://schemas.microsoft.com/office/drawing/2014/main" id="{23FA443E-C843-C4B4-9E18-87ACD32B5CD1}"/>
              </a:ext>
            </a:extLst>
          </p:cNvPr>
          <p:cNvSpPr/>
          <p:nvPr/>
        </p:nvSpPr>
        <p:spPr>
          <a:xfrm>
            <a:off x="1425676" y="1533832"/>
            <a:ext cx="6046838" cy="42475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7" name="Picture 6">
            <a:extLst>
              <a:ext uri="{FF2B5EF4-FFF2-40B4-BE49-F238E27FC236}">
                <a16:creationId xmlns:a16="http://schemas.microsoft.com/office/drawing/2014/main" id="{12F339DC-4033-041A-BAFB-708F86664C48}"/>
              </a:ext>
            </a:extLst>
          </p:cNvPr>
          <p:cNvPicPr>
            <a:picLocks noChangeAspect="1"/>
          </p:cNvPicPr>
          <p:nvPr/>
        </p:nvPicPr>
        <p:blipFill>
          <a:blip r:embed="rId2"/>
          <a:stretch>
            <a:fillRect/>
          </a:stretch>
        </p:blipFill>
        <p:spPr>
          <a:xfrm>
            <a:off x="4296695" y="1949245"/>
            <a:ext cx="304800" cy="304800"/>
          </a:xfrm>
          <a:prstGeom prst="rect">
            <a:avLst/>
          </a:prstGeom>
        </p:spPr>
      </p:pic>
      <p:sp>
        <p:nvSpPr>
          <p:cNvPr id="8" name="TextBox 7">
            <a:extLst>
              <a:ext uri="{FF2B5EF4-FFF2-40B4-BE49-F238E27FC236}">
                <a16:creationId xmlns:a16="http://schemas.microsoft.com/office/drawing/2014/main" id="{D65F179F-4F6C-2BD8-7A6D-BE7709675965}"/>
              </a:ext>
            </a:extLst>
          </p:cNvPr>
          <p:cNvSpPr txBox="1"/>
          <p:nvPr/>
        </p:nvSpPr>
        <p:spPr>
          <a:xfrm>
            <a:off x="3630601" y="2447973"/>
            <a:ext cx="1636987" cy="307777"/>
          </a:xfrm>
          <a:prstGeom prst="rect">
            <a:avLst/>
          </a:prstGeom>
          <a:noFill/>
        </p:spPr>
        <p:txBody>
          <a:bodyPr wrap="none" rtlCol="0">
            <a:spAutoFit/>
          </a:bodyPr>
          <a:lstStyle/>
          <a:p>
            <a:r>
              <a:rPr lang="en-IN" dirty="0"/>
              <a:t>Login to </a:t>
            </a:r>
            <a:r>
              <a:rPr lang="en-IN" dirty="0" err="1"/>
              <a:t>Pinogram</a:t>
            </a:r>
            <a:endParaRPr lang="en-IN" dirty="0"/>
          </a:p>
        </p:txBody>
      </p:sp>
      <p:sp>
        <p:nvSpPr>
          <p:cNvPr id="9" name="TextBox 8">
            <a:extLst>
              <a:ext uri="{FF2B5EF4-FFF2-40B4-BE49-F238E27FC236}">
                <a16:creationId xmlns:a16="http://schemas.microsoft.com/office/drawing/2014/main" id="{A4082361-3B77-3548-4ED3-702EC34ABE1A}"/>
              </a:ext>
            </a:extLst>
          </p:cNvPr>
          <p:cNvSpPr txBox="1"/>
          <p:nvPr/>
        </p:nvSpPr>
        <p:spPr>
          <a:xfrm>
            <a:off x="3560870" y="3134380"/>
            <a:ext cx="1776448" cy="523220"/>
          </a:xfrm>
          <a:prstGeom prst="rect">
            <a:avLst/>
          </a:prstGeom>
          <a:noFill/>
        </p:spPr>
        <p:txBody>
          <a:bodyPr wrap="none" rtlCol="0">
            <a:spAutoFit/>
          </a:bodyPr>
          <a:lstStyle/>
          <a:p>
            <a:r>
              <a:rPr lang="en-IN" dirty="0"/>
              <a:t>Username- ______</a:t>
            </a:r>
          </a:p>
          <a:p>
            <a:r>
              <a:rPr lang="en-IN" dirty="0"/>
              <a:t>Password- _______</a:t>
            </a:r>
          </a:p>
        </p:txBody>
      </p:sp>
      <p:sp>
        <p:nvSpPr>
          <p:cNvPr id="11" name="Rectangle 10">
            <a:extLst>
              <a:ext uri="{FF2B5EF4-FFF2-40B4-BE49-F238E27FC236}">
                <a16:creationId xmlns:a16="http://schemas.microsoft.com/office/drawing/2014/main" id="{C93E780F-4191-8017-469F-91FAC63BE9F8}"/>
              </a:ext>
            </a:extLst>
          </p:cNvPr>
          <p:cNvSpPr/>
          <p:nvPr/>
        </p:nvSpPr>
        <p:spPr>
          <a:xfrm>
            <a:off x="3752255" y="4169832"/>
            <a:ext cx="1088878" cy="3170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158683BD-8724-B0B2-8E84-2356AF9827CA}"/>
              </a:ext>
            </a:extLst>
          </p:cNvPr>
          <p:cNvSpPr txBox="1"/>
          <p:nvPr/>
        </p:nvSpPr>
        <p:spPr>
          <a:xfrm>
            <a:off x="3687393" y="4179057"/>
            <a:ext cx="1218603" cy="307777"/>
          </a:xfrm>
          <a:prstGeom prst="rect">
            <a:avLst/>
          </a:prstGeom>
          <a:noFill/>
        </p:spPr>
        <p:txBody>
          <a:bodyPr wrap="none" rtlCol="0">
            <a:spAutoFit/>
          </a:bodyPr>
          <a:lstStyle/>
          <a:p>
            <a:r>
              <a:rPr lang="en-IN" dirty="0"/>
              <a:t>Login </a:t>
            </a:r>
            <a:r>
              <a:rPr lang="en-IN" dirty="0" err="1"/>
              <a:t>buttton</a:t>
            </a:r>
            <a:endParaRPr lang="en-IN" dirty="0"/>
          </a:p>
        </p:txBody>
      </p:sp>
      <p:pic>
        <p:nvPicPr>
          <p:cNvPr id="13" name="Picture 12">
            <a:extLst>
              <a:ext uri="{FF2B5EF4-FFF2-40B4-BE49-F238E27FC236}">
                <a16:creationId xmlns:a16="http://schemas.microsoft.com/office/drawing/2014/main" id="{B06A0928-8E5A-6D69-6A13-882B4D91ACC8}"/>
              </a:ext>
            </a:extLst>
          </p:cNvPr>
          <p:cNvPicPr>
            <a:picLocks noChangeAspect="1"/>
          </p:cNvPicPr>
          <p:nvPr/>
        </p:nvPicPr>
        <p:blipFill>
          <a:blip r:embed="rId3"/>
          <a:stretch>
            <a:fillRect/>
          </a:stretch>
        </p:blipFill>
        <p:spPr>
          <a:xfrm>
            <a:off x="993058" y="1558606"/>
            <a:ext cx="7305368" cy="4311252"/>
          </a:xfrm>
          <a:prstGeom prst="rect">
            <a:avLst/>
          </a:prstGeom>
        </p:spPr>
      </p:pic>
      <p:pic>
        <p:nvPicPr>
          <p:cNvPr id="6" name="Picture 5">
            <a:extLst>
              <a:ext uri="{FF2B5EF4-FFF2-40B4-BE49-F238E27FC236}">
                <a16:creationId xmlns:a16="http://schemas.microsoft.com/office/drawing/2014/main" id="{C061206D-C4B8-8295-A2CE-D5688E662F54}"/>
              </a:ext>
            </a:extLst>
          </p:cNvPr>
          <p:cNvPicPr>
            <a:picLocks noChangeAspect="1"/>
          </p:cNvPicPr>
          <p:nvPr/>
        </p:nvPicPr>
        <p:blipFill>
          <a:blip r:embed="rId4"/>
          <a:srcRect/>
          <a:stretch/>
        </p:blipFill>
        <p:spPr>
          <a:xfrm>
            <a:off x="482198" y="1203798"/>
            <a:ext cx="7933792" cy="4907603"/>
          </a:xfrm>
          <a:prstGeom prst="rect">
            <a:avLst/>
          </a:prstGeom>
        </p:spPr>
      </p:pic>
    </p:spTree>
    <p:extLst>
      <p:ext uri="{BB962C8B-B14F-4D97-AF65-F5344CB8AC3E}">
        <p14:creationId xmlns:p14="http://schemas.microsoft.com/office/powerpoint/2010/main" val="3184750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DFD7-0FC3-6ED0-0428-0BD189393B4A}"/>
              </a:ext>
            </a:extLst>
          </p:cNvPr>
          <p:cNvSpPr>
            <a:spLocks noGrp="1"/>
          </p:cNvSpPr>
          <p:nvPr>
            <p:ph type="title"/>
          </p:nvPr>
        </p:nvSpPr>
        <p:spPr/>
        <p:txBody>
          <a:bodyPr/>
          <a:lstStyle/>
          <a:p>
            <a:r>
              <a:rPr lang="en-IN" sz="2800" dirty="0">
                <a:solidFill>
                  <a:schemeClr val="tx1"/>
                </a:solidFill>
                <a:latin typeface="Times New Roman" panose="02020603050405020304" pitchFamily="18" charset="0"/>
                <a:cs typeface="Times New Roman" panose="02020603050405020304" pitchFamily="18" charset="0"/>
              </a:rPr>
              <a:t>Future Scope</a:t>
            </a:r>
          </a:p>
        </p:txBody>
      </p:sp>
      <p:sp>
        <p:nvSpPr>
          <p:cNvPr id="3" name="Text Placeholder 2">
            <a:extLst>
              <a:ext uri="{FF2B5EF4-FFF2-40B4-BE49-F238E27FC236}">
                <a16:creationId xmlns:a16="http://schemas.microsoft.com/office/drawing/2014/main" id="{E1C45A12-D380-7A89-0E3E-75F52A72D345}"/>
              </a:ext>
            </a:extLst>
          </p:cNvPr>
          <p:cNvSpPr>
            <a:spLocks noGrp="1"/>
          </p:cNvSpPr>
          <p:nvPr>
            <p:ph type="body" idx="1"/>
          </p:nvPr>
        </p:nvSpPr>
        <p:spPr>
          <a:xfrm>
            <a:off x="169933" y="1157161"/>
            <a:ext cx="8698938" cy="5413571"/>
          </a:xfrm>
        </p:spPr>
        <p:txBody>
          <a:bodyPr/>
          <a:lstStyle/>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Large-scale software projects often involve a deeply nested and complex directory structure. Enhancing the </a:t>
            </a:r>
            <a:r>
              <a:rPr lang="en-US" sz="2000" dirty="0" err="1">
                <a:latin typeface="Times New Roman" panose="02020603050405020304" pitchFamily="18" charset="0"/>
                <a:cs typeface="Times New Roman" panose="02020603050405020304" pitchFamily="18" charset="0"/>
              </a:rPr>
              <a:t>CodeSync</a:t>
            </a:r>
            <a:r>
              <a:rPr lang="en-US" sz="2000" dirty="0">
                <a:latin typeface="Times New Roman" panose="02020603050405020304" pitchFamily="18" charset="0"/>
                <a:cs typeface="Times New Roman" panose="02020603050405020304" pitchFamily="18" charset="0"/>
              </a:rPr>
              <a:t> editor to support such structures can greatly improve its usability and developer experience.</a:t>
            </a:r>
          </a:p>
          <a:p>
            <a:pPr algn="just">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CodeSync</a:t>
            </a:r>
            <a:r>
              <a:rPr lang="en-US" sz="2000" dirty="0">
                <a:latin typeface="Times New Roman" panose="02020603050405020304" pitchFamily="18" charset="0"/>
                <a:cs typeface="Times New Roman" panose="02020603050405020304" pitchFamily="18" charset="0"/>
              </a:rPr>
              <a:t> already offers a chat feature for seamless communication between users. Integrating advanced features like </a:t>
            </a:r>
            <a:r>
              <a:rPr lang="en-US" sz="2000" b="1" dirty="0">
                <a:latin typeface="Times New Roman" panose="02020603050405020304" pitchFamily="18" charset="0"/>
                <a:cs typeface="Times New Roman" panose="02020603050405020304" pitchFamily="18" charset="0"/>
              </a:rPr>
              <a:t>group threads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message history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notifications</a:t>
            </a:r>
            <a:r>
              <a:rPr lang="en-US" sz="2000" dirty="0">
                <a:latin typeface="Times New Roman" panose="02020603050405020304" pitchFamily="18" charset="0"/>
                <a:cs typeface="Times New Roman" panose="02020603050405020304" pitchFamily="18" charset="0"/>
              </a:rPr>
              <a:t> will further enhance collaboration.</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Introducing an </a:t>
            </a:r>
            <a:r>
              <a:rPr lang="en-US" sz="2000" b="1" dirty="0">
                <a:latin typeface="Times New Roman" panose="02020603050405020304" pitchFamily="18" charset="0"/>
                <a:cs typeface="Times New Roman" panose="02020603050405020304" pitchFamily="18" charset="0"/>
              </a:rPr>
              <a:t>online compiler</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integrated terminal</a:t>
            </a:r>
            <a:r>
              <a:rPr lang="en-US" sz="2000" dirty="0">
                <a:latin typeface="Times New Roman" panose="02020603050405020304" pitchFamily="18" charset="0"/>
                <a:cs typeface="Times New Roman" panose="02020603050405020304" pitchFamily="18" charset="0"/>
              </a:rPr>
              <a:t> within the platform will enable users to test and execute code directly, streamlining the development process without switching contexts.</a:t>
            </a:r>
          </a:p>
          <a:p>
            <a:pPr algn="just">
              <a:buSzPct val="86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Adding </a:t>
            </a:r>
            <a:r>
              <a:rPr lang="en-US" sz="2000" b="1" dirty="0">
                <a:latin typeface="Times New Roman" panose="02020603050405020304" pitchFamily="18" charset="0"/>
                <a:cs typeface="Times New Roman" panose="02020603050405020304" pitchFamily="18" charset="0"/>
              </a:rPr>
              <a:t>Version Control System (VCS)</a:t>
            </a:r>
            <a:r>
              <a:rPr lang="en-US" sz="2000" dirty="0">
                <a:latin typeface="Times New Roman" panose="02020603050405020304" pitchFamily="18" charset="0"/>
                <a:cs typeface="Times New Roman" panose="02020603050405020304" pitchFamily="18" charset="0"/>
              </a:rPr>
              <a:t> support, such as </a:t>
            </a:r>
            <a:r>
              <a:rPr lang="en-US" sz="2000" b="1" dirty="0">
                <a:latin typeface="Times New Roman" panose="02020603050405020304" pitchFamily="18" charset="0"/>
                <a:cs typeface="Times New Roman" panose="02020603050405020304" pitchFamily="18" charset="0"/>
              </a:rPr>
              <a:t>Git</a:t>
            </a:r>
            <a:r>
              <a:rPr lang="en-US" sz="2000" dirty="0">
                <a:latin typeface="Times New Roman" panose="02020603050405020304" pitchFamily="18" charset="0"/>
                <a:cs typeface="Times New Roman" panose="02020603050405020304" pitchFamily="18" charset="0"/>
              </a:rPr>
              <a:t>, will empower developers to commit, push, fork, and manage their code repositories within the same interface, making </a:t>
            </a:r>
            <a:r>
              <a:rPr lang="en-US" sz="2000" dirty="0" err="1">
                <a:latin typeface="Times New Roman" panose="02020603050405020304" pitchFamily="18" charset="0"/>
                <a:cs typeface="Times New Roman" panose="02020603050405020304" pitchFamily="18" charset="0"/>
              </a:rPr>
              <a:t>CodeSync</a:t>
            </a:r>
            <a:r>
              <a:rPr lang="en-US" sz="2000" dirty="0">
                <a:latin typeface="Times New Roman" panose="02020603050405020304" pitchFamily="18" charset="0"/>
                <a:cs typeface="Times New Roman" panose="02020603050405020304" pitchFamily="18" charset="0"/>
              </a:rPr>
              <a:t> a complete development ecosystem.</a:t>
            </a:r>
          </a:p>
        </p:txBody>
      </p:sp>
      <p:sp>
        <p:nvSpPr>
          <p:cNvPr id="4" name="Slide Number Placeholder 3">
            <a:extLst>
              <a:ext uri="{FF2B5EF4-FFF2-40B4-BE49-F238E27FC236}">
                <a16:creationId xmlns:a16="http://schemas.microsoft.com/office/drawing/2014/main" id="{D3D7F24E-0C16-2E84-792A-4129CCFC46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737844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5DD34-88D7-F097-3A84-30A1BA1F5B2E}"/>
              </a:ext>
            </a:extLst>
          </p:cNvPr>
          <p:cNvSpPr>
            <a:spLocks noGrp="1"/>
          </p:cNvSpPr>
          <p:nvPr>
            <p:ph type="title"/>
          </p:nvPr>
        </p:nvSpPr>
        <p:spPr/>
        <p:txBody>
          <a:bodyPr/>
          <a:lstStyle/>
          <a:p>
            <a:r>
              <a:rPr lang="en-IN" sz="2800" dirty="0">
                <a:solidFill>
                  <a:schemeClr val="tx1"/>
                </a:solidFill>
              </a:rPr>
              <a:t>References</a:t>
            </a:r>
          </a:p>
        </p:txBody>
      </p:sp>
      <p:sp>
        <p:nvSpPr>
          <p:cNvPr id="3" name="Text Placeholder 2">
            <a:extLst>
              <a:ext uri="{FF2B5EF4-FFF2-40B4-BE49-F238E27FC236}">
                <a16:creationId xmlns:a16="http://schemas.microsoft.com/office/drawing/2014/main" id="{94842944-E940-F789-1B8D-63354290CC79}"/>
              </a:ext>
            </a:extLst>
          </p:cNvPr>
          <p:cNvSpPr>
            <a:spLocks noGrp="1"/>
          </p:cNvSpPr>
          <p:nvPr>
            <p:ph type="body" idx="1"/>
          </p:nvPr>
        </p:nvSpPr>
        <p:spPr/>
        <p:txBody>
          <a:bodyPr/>
          <a:lstStyle/>
          <a:p>
            <a:r>
              <a:rPr lang="en-IN" sz="2000" b="1" dirty="0">
                <a:latin typeface="Times New Roman" panose="02020603050405020304" pitchFamily="18" charset="0"/>
                <a:cs typeface="Times New Roman" panose="02020603050405020304" pitchFamily="18" charset="0"/>
              </a:rPr>
              <a:t>MongoDB Official Website</a:t>
            </a:r>
            <a:r>
              <a:rPr lang="en-IN" sz="2000" dirty="0">
                <a:latin typeface="Times New Roman" panose="02020603050405020304" pitchFamily="18" charset="0"/>
                <a:cs typeface="Times New Roman" panose="02020603050405020304" pitchFamily="18" charset="0"/>
              </a:rPr>
              <a:t> – </a:t>
            </a:r>
            <a:r>
              <a:rPr lang="en-IN" sz="2000" dirty="0">
                <a:solidFill>
                  <a:srgbClr val="00206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https://www.mongodb.com/</a:t>
            </a:r>
            <a:endParaRPr lang="en-IN" sz="2000" dirty="0">
              <a:solidFill>
                <a:srgbClr val="002060"/>
              </a:solidFill>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Visual Studio Code (VS Code)</a:t>
            </a:r>
            <a:r>
              <a:rPr lang="en-IN" sz="2000" dirty="0">
                <a:latin typeface="Times New Roman" panose="02020603050405020304" pitchFamily="18" charset="0"/>
                <a:cs typeface="Times New Roman" panose="02020603050405020304" pitchFamily="18" charset="0"/>
              </a:rPr>
              <a:t> – </a:t>
            </a:r>
            <a:r>
              <a:rPr lang="en-IN" sz="2000" dirty="0">
                <a:solidFill>
                  <a:srgbClr val="002060"/>
                </a:solidFill>
                <a:latin typeface="Times New Roman" panose="02020603050405020304" pitchFamily="18" charset="0"/>
                <a:cs typeface="Times New Roman" panose="02020603050405020304" pitchFamily="18" charset="0"/>
              </a:rPr>
              <a:t>https://code.visualstudio.com/</a:t>
            </a:r>
          </a:p>
          <a:p>
            <a:r>
              <a:rPr lang="en-IN" sz="2000" b="1" dirty="0">
                <a:latin typeface="Times New Roman" panose="02020603050405020304" pitchFamily="18" charset="0"/>
                <a:cs typeface="Times New Roman" panose="02020603050405020304" pitchFamily="18" charset="0"/>
              </a:rPr>
              <a:t>GitHub</a:t>
            </a:r>
            <a:r>
              <a:rPr lang="en-IN" sz="2000" dirty="0">
                <a:latin typeface="Times New Roman" panose="02020603050405020304" pitchFamily="18" charset="0"/>
                <a:cs typeface="Times New Roman" panose="02020603050405020304" pitchFamily="18" charset="0"/>
              </a:rPr>
              <a:t> – </a:t>
            </a:r>
            <a:r>
              <a:rPr lang="en-IN" sz="2000" dirty="0">
                <a:solidFill>
                  <a:srgbClr val="0000FF"/>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https://github.com</a:t>
            </a:r>
            <a:r>
              <a:rPr lang="en-IN" sz="2000" dirty="0">
                <a:solidFill>
                  <a:srgbClr val="00206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t>
            </a:r>
            <a:endParaRPr lang="en-IN" sz="2000" dirty="0">
              <a:solidFill>
                <a:srgbClr val="002060"/>
              </a:solidFill>
              <a:latin typeface="Times New Roman" panose="02020603050405020304" pitchFamily="18" charset="0"/>
              <a:cs typeface="Times New Roman" panose="02020603050405020304" pitchFamily="18" charset="0"/>
            </a:endParaRPr>
          </a:p>
          <a:p>
            <a:r>
              <a:rPr lang="en-IN" sz="2000" b="1" dirty="0" err="1">
                <a:latin typeface="Times New Roman" panose="02020603050405020304" pitchFamily="18" charset="0"/>
                <a:cs typeface="Times New Roman" panose="02020603050405020304" pitchFamily="18" charset="0"/>
              </a:rPr>
              <a:t>CodeSandbox</a:t>
            </a:r>
            <a:r>
              <a:rPr lang="en-IN" sz="2000" dirty="0">
                <a:latin typeface="Times New Roman" panose="02020603050405020304" pitchFamily="18" charset="0"/>
                <a:cs typeface="Times New Roman" panose="02020603050405020304" pitchFamily="18" charset="0"/>
              </a:rPr>
              <a:t> –</a:t>
            </a:r>
            <a:r>
              <a:rPr lang="en-IN" sz="2000" dirty="0">
                <a:solidFill>
                  <a:srgbClr val="002060"/>
                </a:solidFill>
                <a:latin typeface="Times New Roman" panose="02020603050405020304" pitchFamily="18" charset="0"/>
                <a:cs typeface="Times New Roman" panose="02020603050405020304" pitchFamily="18" charset="0"/>
              </a:rPr>
              <a:t> https://</a:t>
            </a:r>
            <a:r>
              <a:rPr lang="en-IN" sz="2000" dirty="0" err="1">
                <a:solidFill>
                  <a:srgbClr val="002060"/>
                </a:solidFill>
                <a:latin typeface="Times New Roman" panose="02020603050405020304" pitchFamily="18" charset="0"/>
                <a:cs typeface="Times New Roman" panose="02020603050405020304" pitchFamily="18" charset="0"/>
              </a:rPr>
              <a:t>codesandbox.io</a:t>
            </a:r>
            <a:r>
              <a:rPr lang="en-IN" sz="2000" dirty="0">
                <a:solidFill>
                  <a:srgbClr val="002060"/>
                </a:solidFill>
                <a:latin typeface="Times New Roman" panose="02020603050405020304" pitchFamily="18" charset="0"/>
                <a:cs typeface="Times New Roman" panose="02020603050405020304" pitchFamily="18" charset="0"/>
              </a:rPr>
              <a:t>/</a:t>
            </a:r>
          </a:p>
          <a:p>
            <a:endParaRPr lang="en-IN" sz="900" dirty="0"/>
          </a:p>
        </p:txBody>
      </p:sp>
      <p:sp>
        <p:nvSpPr>
          <p:cNvPr id="4" name="Slide Number Placeholder 3">
            <a:extLst>
              <a:ext uri="{FF2B5EF4-FFF2-40B4-BE49-F238E27FC236}">
                <a16:creationId xmlns:a16="http://schemas.microsoft.com/office/drawing/2014/main" id="{E59062DE-2797-B400-7373-C4D2DA27AB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1101068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165E1E-3E1A-F136-0E95-1649B1BB6EE9}"/>
              </a:ext>
            </a:extLst>
          </p:cNvPr>
          <p:cNvSpPr>
            <a:spLocks noGrp="1"/>
          </p:cNvSpPr>
          <p:nvPr>
            <p:ph type="body" idx="1"/>
          </p:nvPr>
        </p:nvSpPr>
        <p:spPr/>
        <p:txBody>
          <a:bodyPr/>
          <a:lstStyle/>
          <a:p>
            <a:pPr marL="114300" indent="0">
              <a:buNone/>
            </a:pPr>
            <a:r>
              <a:rPr lang="en-IN" dirty="0"/>
              <a:t>..</a:t>
            </a:r>
          </a:p>
        </p:txBody>
      </p:sp>
      <p:sp>
        <p:nvSpPr>
          <p:cNvPr id="4" name="Slide Number Placeholder 3">
            <a:extLst>
              <a:ext uri="{FF2B5EF4-FFF2-40B4-BE49-F238E27FC236}">
                <a16:creationId xmlns:a16="http://schemas.microsoft.com/office/drawing/2014/main" id="{643F6C34-6EBC-7399-C1AE-EC14974C7F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EB73E03F-5953-12B6-6CA4-52318240E159}"/>
              </a:ext>
            </a:extLst>
          </p:cNvPr>
          <p:cNvPicPr>
            <a:picLocks noChangeAspect="1"/>
          </p:cNvPicPr>
          <p:nvPr/>
        </p:nvPicPr>
        <p:blipFill>
          <a:blip r:embed="rId2"/>
          <a:stretch>
            <a:fillRect/>
          </a:stretch>
        </p:blipFill>
        <p:spPr>
          <a:xfrm>
            <a:off x="699547" y="1814287"/>
            <a:ext cx="7744906" cy="3229426"/>
          </a:xfrm>
          <a:prstGeom prst="rect">
            <a:avLst/>
          </a:prstGeom>
        </p:spPr>
      </p:pic>
    </p:spTree>
    <p:extLst>
      <p:ext uri="{BB962C8B-B14F-4D97-AF65-F5344CB8AC3E}">
        <p14:creationId xmlns:p14="http://schemas.microsoft.com/office/powerpoint/2010/main" val="47547040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0765079-8cdd-4308-8794-7eb8c06980ab}" enabled="0" method="" siteId="{f0765079-8cdd-4308-8794-7eb8c06980ab}" removed="1"/>
</clbl:labelList>
</file>

<file path=docProps/app.xml><?xml version="1.0" encoding="utf-8"?>
<Properties xmlns="http://schemas.openxmlformats.org/officeDocument/2006/extended-properties" xmlns:vt="http://schemas.openxmlformats.org/officeDocument/2006/docPropsVTypes">
  <TotalTime>2352</TotalTime>
  <Words>1129</Words>
  <Application>Microsoft Macintosh PowerPoint</Application>
  <PresentationFormat>On-screen Show (4:3)</PresentationFormat>
  <Paragraphs>126</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 Name :- Jai Kumar Goel (2210991693)               Ishika Goel (2210991690)               Kavita (2210991774)   </vt:lpstr>
      <vt:lpstr>Content</vt:lpstr>
      <vt:lpstr>Summary</vt:lpstr>
      <vt:lpstr>Info about Platform</vt:lpstr>
      <vt:lpstr>Problem Statement</vt:lpstr>
      <vt:lpstr>Objective</vt:lpstr>
      <vt:lpstr>PowerPoint Presentation</vt:lpstr>
      <vt:lpstr>Technology Stack</vt:lpstr>
      <vt:lpstr>PowerPoint Presentation</vt:lpstr>
      <vt:lpstr>Collaborative Code Editor</vt:lpstr>
      <vt:lpstr>Chat and Communication</vt:lpstr>
      <vt:lpstr> Result</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Parallel Processing/Pipelining  Basics of pipelining, pipeline hazards, techniques for handling hazards   Lecture 35-39</dc:title>
  <dc:creator>ABC</dc:creator>
  <cp:lastModifiedBy>Jai Kumar Goel</cp:lastModifiedBy>
  <cp:revision>78</cp:revision>
  <dcterms:created xsi:type="dcterms:W3CDTF">2024-03-17T05:28:30Z</dcterms:created>
  <dcterms:modified xsi:type="dcterms:W3CDTF">2026-04-28T11:12:38Z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844E5F138B254E1FA7CF5348205727E1_13</vt:lpwstr>
  </property>
  <property fmtid="{D5CDD505-2E9C-101B-9397-08002B2CF9AE}" pid="3" name="KSOProductBuildVer">
    <vt:lpwstr>1033-12.2.0.13489</vt:lpwstr>
  </property>
</Properties>
</file>